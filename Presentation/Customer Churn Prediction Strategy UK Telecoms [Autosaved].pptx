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10"/>
  </p:notesMasterIdLst>
  <p:sldIdLst>
    <p:sldId id="256" r:id="rId2"/>
    <p:sldId id="270" r:id="rId3"/>
    <p:sldId id="272" r:id="rId4"/>
    <p:sldId id="269" r:id="rId5"/>
    <p:sldId id="260" r:id="rId6"/>
    <p:sldId id="265" r:id="rId7"/>
    <p:sldId id="271" r:id="rId8"/>
    <p:sldId id="262" r:id="rId9"/>
  </p:sldIdLst>
  <p:sldSz cx="18288000" cy="10287000"/>
  <p:notesSz cx="18288000" cy="10287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52" d="100"/>
          <a:sy n="52" d="100"/>
        </p:scale>
        <p:origin x="878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1CEC0-2AFB-4E91-9C51-7767CD0A347C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5B780B-370D-4D3F-B3BC-0DB86DFA9B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4282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B780B-370D-4D3F-B3BC-0DB86DFA9B2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9479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3599" y="2946401"/>
            <a:ext cx="10796589" cy="3632196"/>
          </a:xfrm>
        </p:spPr>
        <p:txBody>
          <a:bodyPr anchor="b">
            <a:normAutofit/>
          </a:bodyPr>
          <a:lstStyle>
            <a:lvl1pPr algn="r">
              <a:defRPr sz="72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43599" y="6578599"/>
            <a:ext cx="10796589" cy="2108201"/>
          </a:xfrm>
        </p:spPr>
        <p:txBody>
          <a:bodyPr anchor="t">
            <a:normAutofit/>
          </a:bodyPr>
          <a:lstStyle>
            <a:lvl1pPr marL="0" indent="0" algn="r">
              <a:buNone/>
              <a:defRPr sz="2700" cap="all">
                <a:solidFill>
                  <a:schemeClr val="tx1"/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398837" y="8805863"/>
            <a:ext cx="2400300" cy="566738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599" y="8805863"/>
            <a:ext cx="7340937" cy="566738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913438" y="8805863"/>
            <a:ext cx="826751" cy="566738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509"/>
              </a:spcBef>
            </a:pPr>
            <a:fld id="{81D60167-4931-47E6-BA6A-407CBD079E47}" type="slidenum">
              <a:rPr lang="en-GB" spc="65" smtClean="0"/>
              <a:t>‹#›</a:t>
            </a:fld>
            <a:endParaRPr lang="en-GB" spc="65" dirty="0"/>
          </a:p>
        </p:txBody>
      </p:sp>
    </p:spTree>
    <p:extLst>
      <p:ext uri="{BB962C8B-B14F-4D97-AF65-F5344CB8AC3E}">
        <p14:creationId xmlns:p14="http://schemas.microsoft.com/office/powerpoint/2010/main" val="33586416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09"/>
              </a:spcBef>
            </a:pPr>
            <a:fld id="{81D60167-4931-47E6-BA6A-407CBD079E47}" type="slidenum">
              <a:rPr lang="en-GB" spc="65" smtClean="0"/>
              <a:t>‹#›</a:t>
            </a:fld>
            <a:endParaRPr lang="en-GB" spc="65" dirty="0"/>
          </a:p>
        </p:txBody>
      </p:sp>
    </p:spTree>
    <p:extLst>
      <p:ext uri="{BB962C8B-B14F-4D97-AF65-F5344CB8AC3E}">
        <p14:creationId xmlns:p14="http://schemas.microsoft.com/office/powerpoint/2010/main" val="332186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1" y="4962872"/>
            <a:ext cx="15197141" cy="2203200"/>
          </a:xfrm>
        </p:spPr>
        <p:txBody>
          <a:bodyPr anchor="b"/>
          <a:lstStyle>
            <a:lvl1pPr algn="l">
              <a:defRPr sz="6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699" y="7166072"/>
            <a:ext cx="15197142" cy="1290600"/>
          </a:xfrm>
        </p:spPr>
        <p:txBody>
          <a:bodyPr anchor="t">
            <a:normAutofit/>
          </a:bodyPr>
          <a:lstStyle>
            <a:lvl1pPr marL="0" indent="0" algn="l">
              <a:buNone/>
              <a:defRPr sz="3000" cap="all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09"/>
              </a:spcBef>
            </a:pPr>
            <a:fld id="{81D60167-4931-47E6-BA6A-407CBD079E47}" type="slidenum">
              <a:rPr lang="en-GB" spc="65" smtClean="0"/>
              <a:t>‹#›</a:t>
            </a:fld>
            <a:endParaRPr lang="en-GB" spc="65" dirty="0"/>
          </a:p>
        </p:txBody>
      </p:sp>
    </p:spTree>
    <p:extLst>
      <p:ext uri="{BB962C8B-B14F-4D97-AF65-F5344CB8AC3E}">
        <p14:creationId xmlns:p14="http://schemas.microsoft.com/office/powerpoint/2010/main" val="1463127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3" y="3213101"/>
            <a:ext cx="7493001" cy="54737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32843" y="3213101"/>
            <a:ext cx="7492998" cy="54737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09"/>
              </a:spcBef>
            </a:pPr>
            <a:fld id="{81D60167-4931-47E6-BA6A-407CBD079E47}" type="slidenum">
              <a:rPr lang="en-GB" spc="65" smtClean="0"/>
              <a:t>‹#›</a:t>
            </a:fld>
            <a:endParaRPr lang="en-GB" spc="65" dirty="0"/>
          </a:p>
        </p:txBody>
      </p:sp>
    </p:spTree>
    <p:extLst>
      <p:ext uri="{BB962C8B-B14F-4D97-AF65-F5344CB8AC3E}">
        <p14:creationId xmlns:p14="http://schemas.microsoft.com/office/powerpoint/2010/main" val="3151663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0505" y="3327401"/>
            <a:ext cx="7063581" cy="864393"/>
          </a:xfrm>
        </p:spPr>
        <p:txBody>
          <a:bodyPr anchor="b">
            <a:noAutofit/>
          </a:bodyPr>
          <a:lstStyle>
            <a:lvl1pPr marL="0" indent="0">
              <a:buNone/>
              <a:defRPr sz="42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2" y="4305302"/>
            <a:ext cx="7495385" cy="438149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44005" y="3340101"/>
            <a:ext cx="7084220" cy="864393"/>
          </a:xfrm>
        </p:spPr>
        <p:txBody>
          <a:bodyPr anchor="b">
            <a:noAutofit/>
          </a:bodyPr>
          <a:lstStyle>
            <a:lvl1pPr marL="0" indent="0">
              <a:buNone/>
              <a:defRPr sz="42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35225" y="4305302"/>
            <a:ext cx="7493001" cy="438149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09"/>
              </a:spcBef>
            </a:pPr>
            <a:fld id="{81D60167-4931-47E6-BA6A-407CBD079E47}" type="slidenum">
              <a:rPr lang="en-GB" spc="65" smtClean="0"/>
              <a:t>‹#›</a:t>
            </a:fld>
            <a:endParaRPr lang="en-GB" spc="65" dirty="0"/>
          </a:p>
        </p:txBody>
      </p:sp>
    </p:spTree>
    <p:extLst>
      <p:ext uri="{BB962C8B-B14F-4D97-AF65-F5344CB8AC3E}">
        <p14:creationId xmlns:p14="http://schemas.microsoft.com/office/powerpoint/2010/main" val="24451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09"/>
              </a:spcBef>
            </a:pPr>
            <a:fld id="{81D60167-4931-47E6-BA6A-407CBD079E47}" type="slidenum">
              <a:rPr lang="en-GB" spc="65" smtClean="0"/>
              <a:t>‹#›</a:t>
            </a:fld>
            <a:endParaRPr lang="en-GB" spc="65" dirty="0"/>
          </a:p>
        </p:txBody>
      </p:sp>
    </p:spTree>
    <p:extLst>
      <p:ext uri="{BB962C8B-B14F-4D97-AF65-F5344CB8AC3E}">
        <p14:creationId xmlns:p14="http://schemas.microsoft.com/office/powerpoint/2010/main" val="1950762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09"/>
              </a:spcBef>
            </a:pPr>
            <a:fld id="{81D60167-4931-47E6-BA6A-407CBD079E47}" type="slidenum">
              <a:rPr lang="en-GB" spc="65" smtClean="0"/>
              <a:t>‹#›</a:t>
            </a:fld>
            <a:endParaRPr lang="en-GB" spc="65" dirty="0"/>
          </a:p>
        </p:txBody>
      </p:sp>
    </p:spTree>
    <p:extLst>
      <p:ext uri="{BB962C8B-B14F-4D97-AF65-F5344CB8AC3E}">
        <p14:creationId xmlns:p14="http://schemas.microsoft.com/office/powerpoint/2010/main" val="1048293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1" y="3111499"/>
            <a:ext cx="5521328" cy="2057400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72302" y="914402"/>
            <a:ext cx="9253539" cy="7772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8701" y="5168900"/>
            <a:ext cx="5521328" cy="2743200"/>
          </a:xfrm>
        </p:spPr>
        <p:txBody>
          <a:bodyPr anchor="t">
            <a:normAutofit/>
          </a:bodyPr>
          <a:lstStyle>
            <a:lvl1pPr marL="0" indent="0"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09"/>
              </a:spcBef>
            </a:pPr>
            <a:fld id="{81D60167-4931-47E6-BA6A-407CBD079E47}" type="slidenum">
              <a:rPr lang="en-GB" spc="65" smtClean="0"/>
              <a:t>‹#›</a:t>
            </a:fld>
            <a:endParaRPr lang="en-GB" spc="65" dirty="0"/>
          </a:p>
        </p:txBody>
      </p:sp>
    </p:spTree>
    <p:extLst>
      <p:ext uri="{BB962C8B-B14F-4D97-AF65-F5344CB8AC3E}">
        <p14:creationId xmlns:p14="http://schemas.microsoft.com/office/powerpoint/2010/main" val="895972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1" y="2400300"/>
            <a:ext cx="9246980" cy="2057400"/>
          </a:xfrm>
        </p:spPr>
        <p:txBody>
          <a:bodyPr anchor="b">
            <a:normAutofit/>
          </a:bodyPr>
          <a:lstStyle>
            <a:lvl1pPr algn="l">
              <a:defRPr sz="4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304380" y="1371600"/>
            <a:ext cx="4921461" cy="6858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8701" y="4457700"/>
            <a:ext cx="9246980" cy="2743200"/>
          </a:xfrm>
        </p:spPr>
        <p:txBody>
          <a:bodyPr anchor="t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09"/>
              </a:spcBef>
            </a:pPr>
            <a:fld id="{81D60167-4931-47E6-BA6A-407CBD079E47}" type="slidenum">
              <a:rPr lang="en-GB" spc="65" smtClean="0"/>
              <a:t>‹#›</a:t>
            </a:fld>
            <a:endParaRPr lang="en-GB" spc="65" dirty="0"/>
          </a:p>
        </p:txBody>
      </p:sp>
    </p:spTree>
    <p:extLst>
      <p:ext uri="{BB962C8B-B14F-4D97-AF65-F5344CB8AC3E}">
        <p14:creationId xmlns:p14="http://schemas.microsoft.com/office/powerpoint/2010/main" val="3491733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1" y="7099298"/>
            <a:ext cx="15197141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57401" y="1398168"/>
            <a:ext cx="13139741" cy="4747464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8701" y="7949405"/>
            <a:ext cx="15197141" cy="740568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09"/>
              </a:spcBef>
            </a:pPr>
            <a:fld id="{81D60167-4931-47E6-BA6A-407CBD079E47}" type="slidenum">
              <a:rPr lang="en-GB" spc="65" smtClean="0"/>
              <a:t>‹#›</a:t>
            </a:fld>
            <a:endParaRPr lang="en-GB" spc="65" dirty="0"/>
          </a:p>
        </p:txBody>
      </p:sp>
    </p:spTree>
    <p:extLst>
      <p:ext uri="{BB962C8B-B14F-4D97-AF65-F5344CB8AC3E}">
        <p14:creationId xmlns:p14="http://schemas.microsoft.com/office/powerpoint/2010/main" val="216605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2" y="914402"/>
            <a:ext cx="15197141" cy="4686299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6515100"/>
            <a:ext cx="15197142" cy="2171700"/>
          </a:xfrm>
        </p:spPr>
        <p:txBody>
          <a:bodyPr anchor="ctr">
            <a:normAutofit/>
          </a:bodyPr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09"/>
              </a:spcBef>
            </a:pPr>
            <a:fld id="{81D60167-4931-47E6-BA6A-407CBD079E47}" type="slidenum">
              <a:rPr lang="en-GB" spc="65" smtClean="0"/>
              <a:t>‹#›</a:t>
            </a:fld>
            <a:endParaRPr lang="en-GB" spc="65" dirty="0"/>
          </a:p>
        </p:txBody>
      </p:sp>
    </p:spTree>
    <p:extLst>
      <p:ext uri="{BB962C8B-B14F-4D97-AF65-F5344CB8AC3E}">
        <p14:creationId xmlns:p14="http://schemas.microsoft.com/office/powerpoint/2010/main" val="752128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5356801" y="4114800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413" y="1235006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401" y="914402"/>
            <a:ext cx="14325599" cy="4114799"/>
          </a:xfrm>
        </p:spPr>
        <p:txBody>
          <a:bodyPr anchor="ctr">
            <a:normAutofit/>
          </a:bodyPr>
          <a:lstStyle>
            <a:lvl1pPr algn="l">
              <a:defRPr sz="48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46813" y="5029200"/>
            <a:ext cx="14008776" cy="5715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198" y="6515100"/>
            <a:ext cx="15228551" cy="2171700"/>
          </a:xfrm>
        </p:spPr>
        <p:txBody>
          <a:bodyPr anchor="ctr">
            <a:normAutofit/>
          </a:bodyPr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09"/>
              </a:spcBef>
            </a:pPr>
            <a:fld id="{81D60167-4931-47E6-BA6A-407CBD079E47}" type="slidenum">
              <a:rPr lang="en-GB" spc="65" smtClean="0"/>
              <a:t>‹#›</a:t>
            </a:fld>
            <a:endParaRPr lang="en-GB" spc="65" dirty="0"/>
          </a:p>
        </p:txBody>
      </p:sp>
    </p:spTree>
    <p:extLst>
      <p:ext uri="{BB962C8B-B14F-4D97-AF65-F5344CB8AC3E}">
        <p14:creationId xmlns:p14="http://schemas.microsoft.com/office/powerpoint/2010/main" val="2915285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4" y="4962872"/>
            <a:ext cx="15197138" cy="2203200"/>
          </a:xfrm>
        </p:spPr>
        <p:txBody>
          <a:bodyPr anchor="b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2" y="7166072"/>
            <a:ext cx="15197139" cy="1290600"/>
          </a:xfrm>
        </p:spPr>
        <p:txBody>
          <a:bodyPr anchor="t">
            <a:normAutofit/>
          </a:bodyPr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09"/>
              </a:spcBef>
            </a:pPr>
            <a:fld id="{81D60167-4931-47E6-BA6A-407CBD079E47}" type="slidenum">
              <a:rPr lang="en-GB" spc="65" smtClean="0"/>
              <a:t>‹#›</a:t>
            </a:fld>
            <a:endParaRPr lang="en-GB" spc="65" dirty="0"/>
          </a:p>
        </p:txBody>
      </p:sp>
    </p:spTree>
    <p:extLst>
      <p:ext uri="{BB962C8B-B14F-4D97-AF65-F5344CB8AC3E}">
        <p14:creationId xmlns:p14="http://schemas.microsoft.com/office/powerpoint/2010/main" val="776540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356801" y="4114800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2413" y="1235006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488401" y="914402"/>
            <a:ext cx="14325599" cy="4114799"/>
          </a:xfrm>
        </p:spPr>
        <p:txBody>
          <a:bodyPr anchor="ctr">
            <a:normAutofit/>
          </a:bodyPr>
          <a:lstStyle>
            <a:lvl1pPr algn="l">
              <a:defRPr sz="48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8700" y="5829300"/>
            <a:ext cx="15203154" cy="13335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36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699" y="7162800"/>
            <a:ext cx="15203154" cy="1524000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09"/>
              </a:spcBef>
            </a:pPr>
            <a:fld id="{81D60167-4931-47E6-BA6A-407CBD079E47}" type="slidenum">
              <a:rPr lang="en-GB" spc="65" smtClean="0"/>
              <a:t>‹#›</a:t>
            </a:fld>
            <a:endParaRPr lang="en-GB" spc="65" dirty="0"/>
          </a:p>
        </p:txBody>
      </p:sp>
    </p:spTree>
    <p:extLst>
      <p:ext uri="{BB962C8B-B14F-4D97-AF65-F5344CB8AC3E}">
        <p14:creationId xmlns:p14="http://schemas.microsoft.com/office/powerpoint/2010/main" val="27073114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2" y="914402"/>
            <a:ext cx="15197141" cy="41147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8702" y="5257800"/>
            <a:ext cx="15197142" cy="12573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42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6515100"/>
            <a:ext cx="15197142" cy="2171700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09"/>
              </a:spcBef>
            </a:pPr>
            <a:fld id="{81D60167-4931-47E6-BA6A-407CBD079E47}" type="slidenum">
              <a:rPr lang="en-GB" spc="65" smtClean="0"/>
              <a:t>‹#›</a:t>
            </a:fld>
            <a:endParaRPr lang="en-GB" spc="65" dirty="0"/>
          </a:p>
        </p:txBody>
      </p:sp>
    </p:spTree>
    <p:extLst>
      <p:ext uri="{BB962C8B-B14F-4D97-AF65-F5344CB8AC3E}">
        <p14:creationId xmlns:p14="http://schemas.microsoft.com/office/powerpoint/2010/main" val="59291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09"/>
              </a:spcBef>
            </a:pPr>
            <a:fld id="{81D60167-4931-47E6-BA6A-407CBD079E47}" type="slidenum">
              <a:rPr lang="en-GB" spc="65" smtClean="0"/>
              <a:t>‹#›</a:t>
            </a:fld>
            <a:endParaRPr lang="en-GB" spc="65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028702" y="914401"/>
            <a:ext cx="15197138" cy="21844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2186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988013" y="914399"/>
            <a:ext cx="3237828" cy="77724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914400"/>
            <a:ext cx="11748174" cy="7772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09"/>
              </a:spcBef>
            </a:pPr>
            <a:fld id="{81D60167-4931-47E6-BA6A-407CBD079E47}" type="slidenum">
              <a:rPr lang="en-GB" spc="65" smtClean="0"/>
              <a:t>‹#›</a:t>
            </a:fld>
            <a:endParaRPr lang="en-GB" spc="65" dirty="0"/>
          </a:p>
        </p:txBody>
      </p:sp>
    </p:spTree>
    <p:extLst>
      <p:ext uri="{BB962C8B-B14F-4D97-AF65-F5344CB8AC3E}">
        <p14:creationId xmlns:p14="http://schemas.microsoft.com/office/powerpoint/2010/main" val="2270459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2" y="914401"/>
            <a:ext cx="15197138" cy="218440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2" y="3213101"/>
            <a:ext cx="15197138" cy="5473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84490" y="8805863"/>
            <a:ext cx="2400300" cy="5667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8701" y="8805863"/>
            <a:ext cx="11741489" cy="5667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99091" y="8805863"/>
            <a:ext cx="826751" cy="5667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38100">
              <a:lnSpc>
                <a:spcPct val="100000"/>
              </a:lnSpc>
              <a:spcBef>
                <a:spcPts val="509"/>
              </a:spcBef>
            </a:pPr>
            <a:fld id="{81D60167-4931-47E6-BA6A-407CBD079E47}" type="slidenum">
              <a:rPr lang="en-GB" spc="65" smtClean="0"/>
              <a:t>‹#›</a:t>
            </a:fld>
            <a:endParaRPr lang="en-GB" spc="65" dirty="0"/>
          </a:p>
        </p:txBody>
      </p:sp>
    </p:spTree>
    <p:extLst>
      <p:ext uri="{BB962C8B-B14F-4D97-AF65-F5344CB8AC3E}">
        <p14:creationId xmlns:p14="http://schemas.microsoft.com/office/powerpoint/2010/main" val="18671834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txStyles>
    <p:titleStyle>
      <a:lvl1pPr algn="l" defTabSz="685800" rtl="0" eaLnBrk="1" latinLnBrk="0" hangingPunct="1">
        <a:spcBef>
          <a:spcPct val="0"/>
        </a:spcBef>
        <a:buNone/>
        <a:defRPr sz="5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28625" indent="-428625" algn="l" defTabSz="685800" rtl="0" eaLnBrk="1" latinLnBrk="0" hangingPunct="1">
        <a:spcBef>
          <a:spcPts val="0"/>
        </a:spcBef>
        <a:spcAft>
          <a:spcPts val="1500"/>
        </a:spcAft>
        <a:buClr>
          <a:schemeClr val="tx1"/>
        </a:buClr>
        <a:buSzPct val="100000"/>
        <a:buFont typeface="Arial"/>
        <a:buChar char="•"/>
        <a:defRPr sz="27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0"/>
        </a:spcBef>
        <a:spcAft>
          <a:spcPts val="15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800225" indent="-428625" algn="l" defTabSz="685800" rtl="0" eaLnBrk="1" latinLnBrk="0" hangingPunct="1">
        <a:spcBef>
          <a:spcPts val="0"/>
        </a:spcBef>
        <a:spcAft>
          <a:spcPts val="1500"/>
        </a:spcAft>
        <a:buClr>
          <a:schemeClr val="tx1"/>
        </a:buClr>
        <a:buSzPct val="100000"/>
        <a:buFont typeface="Arial"/>
        <a:buChar char="•"/>
        <a:defRPr sz="21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2314575" indent="-257175" algn="l" defTabSz="685800" rtl="0" eaLnBrk="1" latinLnBrk="0" hangingPunct="1">
        <a:spcBef>
          <a:spcPts val="0"/>
        </a:spcBef>
        <a:spcAft>
          <a:spcPts val="15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3000375" indent="-257175" algn="l" defTabSz="685800" rtl="0" eaLnBrk="1" latinLnBrk="0" hangingPunct="1">
        <a:spcBef>
          <a:spcPts val="0"/>
        </a:spcBef>
        <a:spcAft>
          <a:spcPts val="15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0"/>
        </a:spcBef>
        <a:spcAft>
          <a:spcPts val="15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0"/>
        </a:spcBef>
        <a:spcAft>
          <a:spcPts val="15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0"/>
        </a:spcBef>
        <a:spcAft>
          <a:spcPts val="15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0"/>
        </a:spcBef>
        <a:spcAft>
          <a:spcPts val="15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5649" y="7277100"/>
            <a:ext cx="955287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4000" b="1" spc="114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Presenter : </a:t>
            </a:r>
            <a:r>
              <a:rPr sz="4000" b="1" spc="114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R</a:t>
            </a:r>
            <a:r>
              <a:rPr lang="en-GB" sz="4000" b="1" spc="114" dirty="0" err="1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ajesh</a:t>
            </a:r>
            <a:r>
              <a:rPr sz="4000" b="1" spc="60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 </a:t>
            </a:r>
            <a:r>
              <a:rPr lang="en-GB" sz="4000" b="1" spc="80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Udayakumar</a:t>
            </a:r>
            <a:endParaRPr sz="4000" dirty="0">
              <a:latin typeface="Garamond" panose="02020404030301010803" pitchFamily="18" charset="0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5649" y="3086100"/>
            <a:ext cx="14486751" cy="20392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lang="en-GB" sz="6200" dirty="0">
                <a:solidFill>
                  <a:schemeClr val="bg2">
                    <a:lumMod val="20000"/>
                    <a:lumOff val="80000"/>
                  </a:schemeClr>
                </a:solidFill>
                <a:latin typeface="Garamond"/>
                <a:cs typeface="Garamond"/>
              </a:rPr>
              <a:t>TELECOM </a:t>
            </a:r>
            <a:r>
              <a:rPr sz="6200" dirty="0">
                <a:solidFill>
                  <a:schemeClr val="bg2">
                    <a:lumMod val="20000"/>
                    <a:lumOff val="80000"/>
                  </a:schemeClr>
                </a:solidFill>
                <a:latin typeface="Garamond"/>
                <a:cs typeface="Garamond"/>
              </a:rPr>
              <a:t>CUSTOMER</a:t>
            </a:r>
            <a:r>
              <a:rPr sz="6200" spc="60" dirty="0">
                <a:solidFill>
                  <a:schemeClr val="bg2">
                    <a:lumMod val="20000"/>
                    <a:lumOff val="80000"/>
                  </a:schemeClr>
                </a:solidFill>
                <a:latin typeface="Garamond"/>
                <a:cs typeface="Garamond"/>
              </a:rPr>
              <a:t> </a:t>
            </a:r>
            <a:r>
              <a:rPr sz="6200" spc="-10" dirty="0">
                <a:solidFill>
                  <a:schemeClr val="bg2">
                    <a:lumMod val="20000"/>
                    <a:lumOff val="80000"/>
                  </a:schemeClr>
                </a:solidFill>
                <a:latin typeface="Garamond"/>
                <a:cs typeface="Garamond"/>
              </a:rPr>
              <a:t>CHURN PREDICTION</a:t>
            </a:r>
            <a:endParaRPr sz="6200" dirty="0">
              <a:solidFill>
                <a:schemeClr val="bg2">
                  <a:lumMod val="20000"/>
                  <a:lumOff val="80000"/>
                </a:schemeClr>
              </a:solidFill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E8DF9B-141E-3801-4AA5-F05BAC906A07}"/>
              </a:ext>
            </a:extLst>
          </p:cNvPr>
          <p:cNvSpPr txBox="1"/>
          <p:nvPr/>
        </p:nvSpPr>
        <p:spPr>
          <a:xfrm>
            <a:off x="1295400" y="876300"/>
            <a:ext cx="1188720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2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Garamond"/>
                <a:ea typeface="+mj-ea"/>
              </a:rPr>
              <a:t>Business Objective</a:t>
            </a:r>
            <a:endParaRPr lang="en-GB" sz="6200" b="1" dirty="0">
              <a:solidFill>
                <a:schemeClr val="bg2">
                  <a:lumMod val="20000"/>
                  <a:lumOff val="80000"/>
                </a:schemeClr>
              </a:solidFill>
              <a:latin typeface="Garamond"/>
              <a:ea typeface="+mj-ea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63EA2080-C6BC-66A9-1085-1B97B5D3F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026" y="3327618"/>
            <a:ext cx="84582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Garamond" panose="02020404030301010803" pitchFamily="18" charset="0"/>
              </a:rPr>
              <a:t>Retention teams cannot contact everyone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effectLst/>
              <a:latin typeface="Garamond" panose="02020404030301010803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Garamond" panose="02020404030301010803" pitchFamily="18" charset="0"/>
              </a:rPr>
              <a:t>Goal: prioritize customers most likely to churn</a:t>
            </a:r>
          </a:p>
        </p:txBody>
      </p:sp>
    </p:spTree>
    <p:extLst>
      <p:ext uri="{BB962C8B-B14F-4D97-AF65-F5344CB8AC3E}">
        <p14:creationId xmlns:p14="http://schemas.microsoft.com/office/powerpoint/2010/main" val="3264256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38870-CDD5-B5CC-0F20-42F8940A4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6894C6-C99E-0D67-0D8C-16656B96EC83}"/>
              </a:ext>
            </a:extLst>
          </p:cNvPr>
          <p:cNvSpPr txBox="1"/>
          <p:nvPr/>
        </p:nvSpPr>
        <p:spPr>
          <a:xfrm>
            <a:off x="1295400" y="876300"/>
            <a:ext cx="11887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200" spc="-290" dirty="0">
                <a:solidFill>
                  <a:schemeClr val="bg2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DATA-</a:t>
            </a:r>
            <a:r>
              <a:rPr lang="en-GB" sz="6200" spc="-45" dirty="0">
                <a:solidFill>
                  <a:schemeClr val="bg2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DRIVEN</a:t>
            </a:r>
            <a:r>
              <a:rPr lang="en-GB" sz="6600" spc="-45" dirty="0">
                <a:solidFill>
                  <a:schemeClr val="bg2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 </a:t>
            </a:r>
            <a:r>
              <a:rPr lang="en-GB" sz="6600" spc="-10" dirty="0">
                <a:solidFill>
                  <a:schemeClr val="bg2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APPROACH</a:t>
            </a:r>
            <a:endParaRPr lang="en-GB" sz="6200" b="1" dirty="0">
              <a:solidFill>
                <a:schemeClr val="bg2">
                  <a:lumMod val="20000"/>
                  <a:lumOff val="80000"/>
                </a:schemeClr>
              </a:solidFill>
              <a:latin typeface="Garamond" panose="02020404030301010803" pitchFamily="18" charset="0"/>
              <a:ea typeface="+mj-ea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E7A99A4-1AC1-78EB-CEFE-F71F3D1DB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8600" y="228600"/>
            <a:ext cx="6019800" cy="982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3"/>
          <p:cNvSpPr txBox="1"/>
          <p:nvPr/>
        </p:nvSpPr>
        <p:spPr>
          <a:xfrm>
            <a:off x="1676400" y="3009900"/>
            <a:ext cx="7924800" cy="2713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700" b="1" spc="15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Unified</a:t>
            </a:r>
            <a:r>
              <a:rPr sz="2700" b="1" spc="60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 </a:t>
            </a:r>
            <a:r>
              <a:rPr sz="2700" b="1" spc="17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Data</a:t>
            </a:r>
            <a:r>
              <a:rPr sz="2700" b="1" spc="6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 </a:t>
            </a:r>
            <a:r>
              <a:rPr sz="2700" b="1" spc="150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Integration</a:t>
            </a:r>
            <a:endParaRPr sz="2700" dirty="0">
              <a:latin typeface="Garamond" panose="02020404030301010803" pitchFamily="18" charset="0"/>
              <a:cs typeface="Arial Narrow"/>
            </a:endParaRPr>
          </a:p>
          <a:p>
            <a:pPr marL="342900" indent="-342900">
              <a:lnSpc>
                <a:spcPct val="100000"/>
              </a:lnSpc>
              <a:spcBef>
                <a:spcPts val="285"/>
              </a:spcBef>
              <a:buFont typeface="Arial" panose="020B0604020202020204" pitchFamily="34" charset="0"/>
              <a:buChar char="•"/>
            </a:pPr>
            <a:endParaRPr sz="2000" dirty="0">
              <a:latin typeface="Garamond" panose="02020404030301010803" pitchFamily="18" charset="0"/>
              <a:cs typeface="Century Gothic"/>
            </a:endParaRPr>
          </a:p>
          <a:p>
            <a:pPr marL="4699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700" b="1" spc="140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Behavioural</a:t>
            </a:r>
            <a:r>
              <a:rPr sz="2700" b="1" spc="70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 </a:t>
            </a:r>
            <a:r>
              <a:rPr sz="2700" b="1" spc="170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Feature</a:t>
            </a:r>
            <a:r>
              <a:rPr sz="2700" b="1" spc="7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 </a:t>
            </a:r>
            <a:r>
              <a:rPr sz="2700" b="1" spc="140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Engineering</a:t>
            </a:r>
            <a:endParaRPr sz="2700" dirty="0">
              <a:latin typeface="Garamond" panose="02020404030301010803" pitchFamily="18" charset="0"/>
              <a:cs typeface="Arial Narrow"/>
            </a:endParaRPr>
          </a:p>
          <a:p>
            <a:pPr marL="342900" indent="-342900">
              <a:lnSpc>
                <a:spcPct val="100000"/>
              </a:lnSpc>
              <a:spcBef>
                <a:spcPts val="290"/>
              </a:spcBef>
              <a:buFont typeface="Arial" panose="020B0604020202020204" pitchFamily="34" charset="0"/>
              <a:buChar char="•"/>
            </a:pPr>
            <a:endParaRPr sz="2000" dirty="0">
              <a:latin typeface="Garamond" panose="02020404030301010803" pitchFamily="18" charset="0"/>
              <a:cs typeface="Century Gothic"/>
            </a:endParaRPr>
          </a:p>
          <a:p>
            <a:pPr marL="4699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700" b="1" spc="23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Time-</a:t>
            </a:r>
            <a:r>
              <a:rPr sz="2700" b="1" spc="21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Aware</a:t>
            </a:r>
            <a:r>
              <a:rPr sz="2700" b="1" spc="6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 </a:t>
            </a:r>
            <a:r>
              <a:rPr sz="2700" b="1" spc="170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Modelling</a:t>
            </a:r>
            <a:endParaRPr sz="2700" dirty="0">
              <a:latin typeface="Garamond" panose="02020404030301010803" pitchFamily="18" charset="0"/>
              <a:cs typeface="Arial Narrow"/>
            </a:endParaRPr>
          </a:p>
          <a:p>
            <a:pPr marL="342900" indent="-342900">
              <a:lnSpc>
                <a:spcPct val="100000"/>
              </a:lnSpc>
              <a:spcBef>
                <a:spcPts val="285"/>
              </a:spcBef>
              <a:buFont typeface="Arial" panose="020B0604020202020204" pitchFamily="34" charset="0"/>
              <a:buChar char="•"/>
            </a:pPr>
            <a:endParaRPr sz="2000" dirty="0">
              <a:latin typeface="Garamond" panose="02020404030301010803" pitchFamily="18" charset="0"/>
              <a:cs typeface="Century Gothic"/>
            </a:endParaRPr>
          </a:p>
          <a:p>
            <a:pPr marL="4699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700" b="1" spc="15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Strategic</a:t>
            </a:r>
            <a:r>
              <a:rPr sz="2700" b="1" spc="7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 </a:t>
            </a:r>
            <a:r>
              <a:rPr sz="2700" b="1" spc="140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Insights</a:t>
            </a:r>
            <a:r>
              <a:rPr sz="2700" b="1" spc="7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 </a:t>
            </a:r>
            <a:r>
              <a:rPr sz="2700" b="1" spc="16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for</a:t>
            </a:r>
            <a:r>
              <a:rPr sz="2700" b="1" spc="7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 </a:t>
            </a:r>
            <a:r>
              <a:rPr sz="2700" b="1" spc="140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Retention</a:t>
            </a:r>
            <a:endParaRPr sz="2700" dirty="0">
              <a:latin typeface="Garamond" panose="02020404030301010803" pitchFamily="18" charset="0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168668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9F94F7B2-AD33-083D-E8CC-61E63F357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6800F78-DA10-56A3-E1F0-468AB924D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99F96C0-02AD-D2F3-589E-54D0F7CFC272}"/>
              </a:ext>
            </a:extLst>
          </p:cNvPr>
          <p:cNvSpPr/>
          <p:nvPr/>
        </p:nvSpPr>
        <p:spPr>
          <a:xfrm>
            <a:off x="567128" y="1999642"/>
            <a:ext cx="1981200" cy="91439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CUSTOMER DATA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BAD3B1-DD9A-8F3C-7C9A-4D3B377B3F96}"/>
              </a:ext>
            </a:extLst>
          </p:cNvPr>
          <p:cNvSpPr/>
          <p:nvPr/>
        </p:nvSpPr>
        <p:spPr>
          <a:xfrm>
            <a:off x="533400" y="3923687"/>
            <a:ext cx="1981200" cy="91439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USAGE DATA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382DC8DA-4A18-BB9E-29A3-434DCCD0B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903FF4D-A21D-C960-9C01-2FA3CD6CD8EF}"/>
              </a:ext>
            </a:extLst>
          </p:cNvPr>
          <p:cNvSpPr/>
          <p:nvPr/>
        </p:nvSpPr>
        <p:spPr>
          <a:xfrm>
            <a:off x="533400" y="5790895"/>
            <a:ext cx="1981200" cy="91439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CALL CENTER DATA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AA2D37A-0E2B-FD67-F6EF-EC0732192538}"/>
              </a:ext>
            </a:extLst>
          </p:cNvPr>
          <p:cNvSpPr/>
          <p:nvPr/>
        </p:nvSpPr>
        <p:spPr>
          <a:xfrm>
            <a:off x="564630" y="7658103"/>
            <a:ext cx="1981200" cy="91439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CONTRACT  DATA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F3CD544-959B-562C-9AF6-616CACBA90ED}"/>
              </a:ext>
            </a:extLst>
          </p:cNvPr>
          <p:cNvSpPr/>
          <p:nvPr/>
        </p:nvSpPr>
        <p:spPr>
          <a:xfrm>
            <a:off x="3368415" y="1999642"/>
            <a:ext cx="1981200" cy="657285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DATA INTEGRATION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8DC7696-779C-5D51-2EFF-A402570674F5}"/>
              </a:ext>
            </a:extLst>
          </p:cNvPr>
          <p:cNvSpPr/>
          <p:nvPr/>
        </p:nvSpPr>
        <p:spPr>
          <a:xfrm>
            <a:off x="6172200" y="4609488"/>
            <a:ext cx="2362200" cy="12953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FEATURE ENGINEERING</a:t>
            </a:r>
            <a:br>
              <a:rPr lang="en-GB" dirty="0"/>
            </a:br>
            <a:r>
              <a:rPr lang="en-GB" dirty="0"/>
              <a:t>(Rolling Feature)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B926F4F-B099-A2BF-6918-582BE3C3717B}"/>
              </a:ext>
            </a:extLst>
          </p:cNvPr>
          <p:cNvSpPr/>
          <p:nvPr/>
        </p:nvSpPr>
        <p:spPr>
          <a:xfrm>
            <a:off x="9372600" y="4609488"/>
            <a:ext cx="2362200" cy="12953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MODEL TABLE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1D85A3D-9385-A836-F956-A3877BA860C1}"/>
              </a:ext>
            </a:extLst>
          </p:cNvPr>
          <p:cNvSpPr/>
          <p:nvPr/>
        </p:nvSpPr>
        <p:spPr>
          <a:xfrm>
            <a:off x="12573000" y="4609486"/>
            <a:ext cx="2362200" cy="12953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MODEL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0CD341F-2DE0-786F-4333-964D28CEC045}"/>
              </a:ext>
            </a:extLst>
          </p:cNvPr>
          <p:cNvSpPr/>
          <p:nvPr/>
        </p:nvSpPr>
        <p:spPr>
          <a:xfrm>
            <a:off x="15697200" y="4609486"/>
            <a:ext cx="2362200" cy="12953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RISK SCORING PATTERN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28C4698-9534-78EC-ED89-B614CEBBE39D}"/>
              </a:ext>
            </a:extLst>
          </p:cNvPr>
          <p:cNvCxnSpPr>
            <a:stCxn id="8" idx="3"/>
          </p:cNvCxnSpPr>
          <p:nvPr/>
        </p:nvCxnSpPr>
        <p:spPr>
          <a:xfrm>
            <a:off x="2548328" y="2456841"/>
            <a:ext cx="792000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8391701-C50B-17BB-5D5D-52B008705E0D}"/>
              </a:ext>
            </a:extLst>
          </p:cNvPr>
          <p:cNvCxnSpPr/>
          <p:nvPr/>
        </p:nvCxnSpPr>
        <p:spPr>
          <a:xfrm>
            <a:off x="2560800" y="4397173"/>
            <a:ext cx="792000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1745618-DC33-9312-A6A0-8632CDEBAB28}"/>
              </a:ext>
            </a:extLst>
          </p:cNvPr>
          <p:cNvCxnSpPr/>
          <p:nvPr/>
        </p:nvCxnSpPr>
        <p:spPr>
          <a:xfrm>
            <a:off x="2560800" y="6254857"/>
            <a:ext cx="792000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2F37EB1-C114-F7D6-0945-04266C16A51F}"/>
              </a:ext>
            </a:extLst>
          </p:cNvPr>
          <p:cNvCxnSpPr/>
          <p:nvPr/>
        </p:nvCxnSpPr>
        <p:spPr>
          <a:xfrm>
            <a:off x="2560800" y="8089492"/>
            <a:ext cx="792000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6E90454-2AA9-50FA-9689-C76BE348F31E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5349615" y="5257188"/>
            <a:ext cx="822585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7A19280-E8F0-146F-4393-7449BF3D621F}"/>
              </a:ext>
            </a:extLst>
          </p:cNvPr>
          <p:cNvCxnSpPr>
            <a:cxnSpLocks/>
          </p:cNvCxnSpPr>
          <p:nvPr/>
        </p:nvCxnSpPr>
        <p:spPr>
          <a:xfrm flipV="1">
            <a:off x="8525434" y="5257186"/>
            <a:ext cx="822585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671ECFC-4FFB-8A61-F4C4-600FC0029609}"/>
              </a:ext>
            </a:extLst>
          </p:cNvPr>
          <p:cNvCxnSpPr>
            <a:cxnSpLocks/>
          </p:cNvCxnSpPr>
          <p:nvPr/>
        </p:nvCxnSpPr>
        <p:spPr>
          <a:xfrm flipV="1">
            <a:off x="11750415" y="5257185"/>
            <a:ext cx="822585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4F97521-E67E-14FE-0E98-A35382D2F21D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14935200" y="5257185"/>
            <a:ext cx="762000" cy="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959E199-074D-0A09-C06E-C7BE2E8948B2}"/>
              </a:ext>
            </a:extLst>
          </p:cNvPr>
          <p:cNvSpPr txBox="1"/>
          <p:nvPr/>
        </p:nvSpPr>
        <p:spPr>
          <a:xfrm>
            <a:off x="533400" y="351280"/>
            <a:ext cx="1360857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200" spc="-290" dirty="0">
                <a:solidFill>
                  <a:schemeClr val="bg2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j-ea"/>
              </a:rPr>
              <a:t>END TO END WORKFLOW</a:t>
            </a:r>
            <a:r>
              <a:rPr lang="en-GB" dirty="0">
                <a:solidFill>
                  <a:schemeClr val="bg2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29731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3009900"/>
            <a:ext cx="7743126" cy="51619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41542" y="4152900"/>
            <a:ext cx="7678420" cy="16055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700" b="1" spc="15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LightGBM:</a:t>
            </a:r>
            <a:r>
              <a:rPr sz="2700" b="1" spc="7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 </a:t>
            </a:r>
            <a:r>
              <a:rPr sz="2700" b="1" spc="12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Fast,</a:t>
            </a:r>
            <a:r>
              <a:rPr sz="2700" b="1" spc="80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 </a:t>
            </a:r>
            <a:r>
              <a:rPr sz="2700" b="1" spc="16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Scalable</a:t>
            </a:r>
            <a:r>
              <a:rPr sz="2700" b="1" spc="7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 </a:t>
            </a:r>
            <a:r>
              <a:rPr sz="2700" b="1" spc="13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Churn</a:t>
            </a:r>
            <a:r>
              <a:rPr sz="2700" b="1" spc="80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 </a:t>
            </a:r>
            <a:r>
              <a:rPr sz="2700" b="1" spc="170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Modelling</a:t>
            </a:r>
            <a:endParaRPr sz="2700" dirty="0">
              <a:latin typeface="Garamond" panose="02020404030301010803" pitchFamily="18" charset="0"/>
              <a:cs typeface="Arial Narrow"/>
            </a:endParaRPr>
          </a:p>
          <a:p>
            <a:pPr>
              <a:lnSpc>
                <a:spcPct val="100000"/>
              </a:lnSpc>
              <a:spcBef>
                <a:spcPts val="285"/>
              </a:spcBef>
              <a:buClr>
                <a:srgbClr val="ECE6ED"/>
              </a:buClr>
              <a:buFont typeface="Garamond"/>
              <a:buChar char="•"/>
            </a:pPr>
            <a:endParaRPr sz="2000" dirty="0">
              <a:latin typeface="Garamond" panose="02020404030301010803" pitchFamily="18" charset="0"/>
              <a:cs typeface="Century Gothic"/>
            </a:endParaRPr>
          </a:p>
          <a:p>
            <a:pPr marL="469900" indent="-457200">
              <a:buFont typeface="Arial" panose="020B0604020202020204" pitchFamily="34" charset="0"/>
              <a:buChar char="•"/>
            </a:pPr>
            <a:r>
              <a:rPr sz="2700" b="1" spc="19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Time-</a:t>
            </a:r>
            <a:r>
              <a:rPr sz="2700" b="1" spc="220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Based</a:t>
            </a:r>
            <a:r>
              <a:rPr sz="2700" b="1" spc="-1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 </a:t>
            </a:r>
            <a:r>
              <a:rPr sz="2700" b="1" spc="19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Train/Test</a:t>
            </a:r>
            <a:r>
              <a:rPr sz="2700" b="1" spc="80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 </a:t>
            </a:r>
            <a:r>
              <a:rPr sz="2700" b="1" spc="130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Split</a:t>
            </a:r>
            <a:r>
              <a:rPr lang="en-GB" sz="2700" b="1" spc="130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 (Prevents Data Leakage)</a:t>
            </a:r>
            <a:endParaRPr sz="2700" dirty="0">
              <a:latin typeface="Garamond" panose="02020404030301010803" pitchFamily="18" charset="0"/>
              <a:cs typeface="Arial Narrow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B5076B-CB61-9448-3277-D149C6AAF444}"/>
              </a:ext>
            </a:extLst>
          </p:cNvPr>
          <p:cNvSpPr txBox="1"/>
          <p:nvPr/>
        </p:nvSpPr>
        <p:spPr>
          <a:xfrm>
            <a:off x="533400" y="351280"/>
            <a:ext cx="1360857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200" dirty="0">
                <a:solidFill>
                  <a:schemeClr val="bg2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MODEL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D6438B5-D0BB-50EA-0E59-5B88F6876845}"/>
              </a:ext>
            </a:extLst>
          </p:cNvPr>
          <p:cNvSpPr txBox="1"/>
          <p:nvPr/>
        </p:nvSpPr>
        <p:spPr>
          <a:xfrm>
            <a:off x="280218" y="459075"/>
            <a:ext cx="17855382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200" b="1" spc="-145" dirty="0">
                <a:solidFill>
                  <a:schemeClr val="bg2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j-ea"/>
              </a:rPr>
              <a:t>FEATURE</a:t>
            </a:r>
            <a:r>
              <a:rPr lang="en-GB" sz="62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 </a:t>
            </a:r>
            <a:r>
              <a:rPr lang="en-GB" sz="6200" b="1" spc="-145" dirty="0">
                <a:solidFill>
                  <a:schemeClr val="bg2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j-ea"/>
              </a:rPr>
              <a:t>IMPORTANCE &amp; SHAP EXPLAINABILITY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A50E99-BB6F-75E3-E8E8-D2F33FF27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26" y="2554574"/>
            <a:ext cx="9448801" cy="70466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B6FBF3-F662-03D8-E45B-1DB0B0A81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2592674"/>
            <a:ext cx="7223774" cy="70466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35DE17-7E83-BFAD-7EE9-EE6AE66BD91B}"/>
              </a:ext>
            </a:extLst>
          </p:cNvPr>
          <p:cNvSpPr txBox="1"/>
          <p:nvPr/>
        </p:nvSpPr>
        <p:spPr>
          <a:xfrm>
            <a:off x="16078200" y="8039100"/>
            <a:ext cx="145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bg1"/>
                </a:solidFill>
              </a:rPr>
              <a:t>SHAP</a:t>
            </a:r>
            <a:endParaRPr lang="en-GB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817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AFFE8F-9932-D367-5762-96FDF562D813}"/>
              </a:ext>
            </a:extLst>
          </p:cNvPr>
          <p:cNvSpPr txBox="1"/>
          <p:nvPr/>
        </p:nvSpPr>
        <p:spPr>
          <a:xfrm>
            <a:off x="762000" y="2365644"/>
            <a:ext cx="6374175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9900" indent="-4572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2700" b="1" spc="155" dirty="0">
                <a:solidFill>
                  <a:srgbClr val="ECE6ED"/>
                </a:solidFill>
                <a:latin typeface="Garamond" panose="02020404030301010803" pitchFamily="18" charset="0"/>
              </a:rPr>
              <a:t>Model Accuracy: ~92%</a:t>
            </a:r>
          </a:p>
          <a:p>
            <a:pPr marL="469900" indent="-45720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GB" sz="2700" b="1" spc="155" dirty="0">
              <a:solidFill>
                <a:srgbClr val="ECE6ED"/>
              </a:solidFill>
              <a:latin typeface="Garamond" panose="02020404030301010803" pitchFamily="18" charset="0"/>
            </a:endParaRPr>
          </a:p>
          <a:p>
            <a:pPr marL="469900" indent="-4572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2700" b="1" spc="155" dirty="0">
                <a:solidFill>
                  <a:srgbClr val="ECE6ED"/>
                </a:solidFill>
                <a:latin typeface="Garamond" panose="02020404030301010803" pitchFamily="18" charset="0"/>
              </a:rPr>
              <a:t>ROC-AUC: 0.97</a:t>
            </a:r>
          </a:p>
          <a:p>
            <a:pPr marL="469900" indent="-45720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GB" sz="2700" b="1" spc="155" dirty="0">
              <a:solidFill>
                <a:srgbClr val="ECE6ED"/>
              </a:solidFill>
              <a:latin typeface="Garamond" panose="02020404030301010803" pitchFamily="18" charset="0"/>
            </a:endParaRPr>
          </a:p>
          <a:p>
            <a:pPr marL="469900" indent="-4572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2700" b="1" spc="155" dirty="0">
                <a:solidFill>
                  <a:srgbClr val="ECE6ED"/>
                </a:solidFill>
                <a:latin typeface="Garamond" panose="02020404030301010803" pitchFamily="18" charset="0"/>
              </a:rPr>
              <a:t>Recall @ Top 20% = 30.9%</a:t>
            </a:r>
          </a:p>
          <a:p>
            <a:pPr marL="469900" indent="-45720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GB" sz="2700" b="1" spc="155" dirty="0">
              <a:solidFill>
                <a:srgbClr val="ECE6ED"/>
              </a:solidFill>
              <a:latin typeface="Garamond" panose="02020404030301010803" pitchFamily="18" charset="0"/>
            </a:endParaRPr>
          </a:p>
          <a:p>
            <a:pPr marL="469900" indent="-4572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2700" b="1" spc="155" dirty="0">
                <a:solidFill>
                  <a:srgbClr val="ECE6ED"/>
                </a:solidFill>
                <a:latin typeface="Garamond" panose="02020404030301010803" pitchFamily="18" charset="0"/>
              </a:rPr>
              <a:t>Lift = 1.54x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214A4A-64BA-960D-70A1-82C1B6FC19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4375" y="190500"/>
            <a:ext cx="6248400" cy="51452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FB9174-0551-718E-CE39-AFECD93FEB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5335739"/>
            <a:ext cx="6374175" cy="47607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1D0237-BAA6-5E17-3384-2F5BAF5F7B5A}"/>
              </a:ext>
            </a:extLst>
          </p:cNvPr>
          <p:cNvSpPr txBox="1"/>
          <p:nvPr/>
        </p:nvSpPr>
        <p:spPr>
          <a:xfrm>
            <a:off x="533400" y="351280"/>
            <a:ext cx="1360857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200" dirty="0">
                <a:solidFill>
                  <a:schemeClr val="bg2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EVALUATION METRICS</a:t>
            </a:r>
          </a:p>
        </p:txBody>
      </p:sp>
    </p:spTree>
    <p:extLst>
      <p:ext uri="{BB962C8B-B14F-4D97-AF65-F5344CB8AC3E}">
        <p14:creationId xmlns:p14="http://schemas.microsoft.com/office/powerpoint/2010/main" val="22870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7400" y="2400300"/>
            <a:ext cx="7743126" cy="516206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66800" y="3162300"/>
            <a:ext cx="8331834" cy="26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700" b="1" spc="16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Short-</a:t>
            </a:r>
            <a:r>
              <a:rPr sz="2700" b="1" spc="29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Term</a:t>
            </a:r>
            <a:r>
              <a:rPr sz="2700" b="1" spc="70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 </a:t>
            </a:r>
            <a:r>
              <a:rPr sz="2700" b="1" spc="13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Churn</a:t>
            </a:r>
            <a:r>
              <a:rPr sz="2700" b="1" spc="7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 </a:t>
            </a:r>
            <a:r>
              <a:rPr sz="2700" b="1" spc="150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Forecasting</a:t>
            </a:r>
            <a:endParaRPr sz="2700" dirty="0">
              <a:latin typeface="Garamond" panose="02020404030301010803" pitchFamily="18" charset="0"/>
              <a:cs typeface="Arial Narrow"/>
            </a:endParaRPr>
          </a:p>
          <a:p>
            <a:pPr marL="457200" indent="-457200">
              <a:lnSpc>
                <a:spcPct val="100000"/>
              </a:lnSpc>
              <a:spcBef>
                <a:spcPts val="285"/>
              </a:spcBef>
              <a:buFont typeface="Arial" panose="020B0604020202020204" pitchFamily="34" charset="0"/>
              <a:buChar char="•"/>
            </a:pPr>
            <a:endParaRPr sz="2700" dirty="0">
              <a:latin typeface="Garamond" panose="02020404030301010803" pitchFamily="18" charset="0"/>
              <a:cs typeface="Century Gothic"/>
            </a:endParaRPr>
          </a:p>
          <a:p>
            <a:pPr marL="4699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700" b="1" spc="19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RAG Integration </a:t>
            </a:r>
            <a:endParaRPr sz="2700" dirty="0">
              <a:latin typeface="Garamond" panose="02020404030301010803" pitchFamily="18" charset="0"/>
              <a:cs typeface="Arial Narrow"/>
            </a:endParaRPr>
          </a:p>
          <a:p>
            <a:pPr marL="457200" indent="-457200">
              <a:lnSpc>
                <a:spcPct val="100000"/>
              </a:lnSpc>
              <a:spcBef>
                <a:spcPts val="290"/>
              </a:spcBef>
              <a:buFont typeface="Arial" panose="020B0604020202020204" pitchFamily="34" charset="0"/>
              <a:buChar char="•"/>
            </a:pPr>
            <a:endParaRPr sz="2700" dirty="0">
              <a:latin typeface="Garamond" panose="02020404030301010803" pitchFamily="18" charset="0"/>
              <a:cs typeface="Century Gothic"/>
            </a:endParaRPr>
          </a:p>
          <a:p>
            <a:pPr marL="4699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700" b="1" spc="250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CRM</a:t>
            </a:r>
            <a:r>
              <a:rPr sz="2700" b="1" spc="60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 </a:t>
            </a:r>
            <a:r>
              <a:rPr sz="2700" b="1" spc="18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Workflow</a:t>
            </a:r>
            <a:r>
              <a:rPr sz="2700" b="1" spc="65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 </a:t>
            </a:r>
            <a:r>
              <a:rPr sz="2700" b="1" spc="170" dirty="0">
                <a:solidFill>
                  <a:srgbClr val="ECE6ED"/>
                </a:solidFill>
                <a:latin typeface="Garamond" panose="02020404030301010803" pitchFamily="18" charset="0"/>
                <a:cs typeface="Arial Narrow"/>
              </a:rPr>
              <a:t>Alignment</a:t>
            </a:r>
            <a:endParaRPr sz="2700" dirty="0">
              <a:latin typeface="Garamond" panose="02020404030301010803" pitchFamily="18" charset="0"/>
              <a:cs typeface="Arial Narrow"/>
            </a:endParaRPr>
          </a:p>
          <a:p>
            <a:pPr marL="457200" indent="-457200">
              <a:lnSpc>
                <a:spcPct val="100000"/>
              </a:lnSpc>
              <a:spcBef>
                <a:spcPts val="285"/>
              </a:spcBef>
              <a:buFont typeface="Arial" panose="020B0604020202020204" pitchFamily="34" charset="0"/>
              <a:buChar char="•"/>
            </a:pPr>
            <a:endParaRPr sz="2700" dirty="0">
              <a:latin typeface="Garamond" panose="02020404030301010803" pitchFamily="18" charset="0"/>
              <a:cs typeface="Century Gothi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67FC6E-BFA0-1E45-14A3-04AE365BEDA8}"/>
              </a:ext>
            </a:extLst>
          </p:cNvPr>
          <p:cNvSpPr txBox="1"/>
          <p:nvPr/>
        </p:nvSpPr>
        <p:spPr>
          <a:xfrm>
            <a:off x="533400" y="351280"/>
            <a:ext cx="1360857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200" dirty="0">
                <a:solidFill>
                  <a:schemeClr val="bg2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STRATEGIC NEXT STEPS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0</TotalTime>
  <Words>125</Words>
  <Application>Microsoft Office PowerPoint</Application>
  <PresentationFormat>Custom</PresentationFormat>
  <Paragraphs>45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Garamond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Rajesh Udayakumar</dc:creator>
  <cp:lastModifiedBy>Rajesh Udayakumar</cp:lastModifiedBy>
  <cp:revision>14</cp:revision>
  <dcterms:created xsi:type="dcterms:W3CDTF">2026-02-17T11:36:05Z</dcterms:created>
  <dcterms:modified xsi:type="dcterms:W3CDTF">2026-02-19T12:19:42Z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2026-02-17T00:00:00Z</vt:filetime>
  </property>
  <property fmtid="{D5CDD505-2E9C-101B-9397-08002B2CF9AE}" pid="3" name="CreationClient">
    <vt:lpwstr>outline-to-presentation</vt:lpwstr>
  </property>
  <property fmtid="{D5CDD505-2E9C-101B-9397-08002B2CF9AE}" pid="4" name="Creator">
    <vt:lpwstr>Adobe Express</vt:lpwstr>
  </property>
  <property fmtid="{D5CDD505-2E9C-101B-9397-08002B2CF9AE}" pid="5" name="LastSaved">
    <vt:filetime>2026-02-17T00:00:00Z</vt:filetime>
  </property>
  <property fmtid="{D5CDD505-2E9C-101B-9397-08002B2CF9AE}" pid="6" name="Producer">
    <vt:lpwstr>Adobe Express</vt:lpwstr>
  </property>
</Properties>
</file>