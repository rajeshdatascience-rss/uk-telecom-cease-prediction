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6" r:id="rId1"/>
  </p:sldMasterIdLst>
  <p:notesMasterIdLst>
    <p:notesMasterId r:id="rId13"/>
  </p:notesMasterIdLst>
  <p:sldIdLst>
    <p:sldId id="256" r:id="rId2"/>
    <p:sldId id="270" r:id="rId3"/>
    <p:sldId id="272" r:id="rId4"/>
    <p:sldId id="269" r:id="rId5"/>
    <p:sldId id="267" r:id="rId6"/>
    <p:sldId id="264" r:id="rId7"/>
    <p:sldId id="259" r:id="rId8"/>
    <p:sldId id="260" r:id="rId9"/>
    <p:sldId id="265" r:id="rId10"/>
    <p:sldId id="271" r:id="rId11"/>
    <p:sldId id="262" r:id="rId12"/>
  </p:sldIdLst>
  <p:sldSz cx="18288000" cy="10287000"/>
  <p:notesSz cx="18288000" cy="10287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>
      <p:cViewPr varScale="1">
        <p:scale>
          <a:sx n="52" d="100"/>
          <a:sy n="52" d="100"/>
        </p:scale>
        <p:origin x="878" y="62"/>
      </p:cViewPr>
      <p:guideLst>
        <p:guide orient="horz" pos="2880"/>
        <p:guide pos="216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81CEC0-2AFB-4E91-9C51-7767CD0A347C}" type="datetimeFigureOut">
              <a:rPr lang="en-GB" smtClean="0"/>
              <a:t>18/02/2026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5B780B-370D-4D3F-B3BC-0DB86DFA9B2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282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5B780B-370D-4D3F-B3BC-0DB86DFA9B20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94798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43599" y="2946401"/>
            <a:ext cx="10796589" cy="3632196"/>
          </a:xfrm>
        </p:spPr>
        <p:txBody>
          <a:bodyPr anchor="b">
            <a:normAutofit/>
          </a:bodyPr>
          <a:lstStyle>
            <a:lvl1pPr algn="r">
              <a:defRPr sz="72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43599" y="6578599"/>
            <a:ext cx="10796589" cy="2108201"/>
          </a:xfrm>
        </p:spPr>
        <p:txBody>
          <a:bodyPr anchor="t">
            <a:normAutofit/>
          </a:bodyPr>
          <a:lstStyle>
            <a:lvl1pPr marL="0" indent="0" algn="r">
              <a:buNone/>
              <a:defRPr sz="2700" cap="all">
                <a:solidFill>
                  <a:schemeClr val="tx1"/>
                </a:solidFill>
              </a:defRPr>
            </a:lvl1pPr>
            <a:lvl2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429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114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800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5486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3398837" y="8805863"/>
            <a:ext cx="2400300" cy="566738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943599" y="8805863"/>
            <a:ext cx="7340937" cy="566738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5913438" y="8805863"/>
            <a:ext cx="826751" cy="566738"/>
          </a:xfrm>
        </p:spPr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33586416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332186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1" y="4962872"/>
            <a:ext cx="15197141" cy="2203200"/>
          </a:xfrm>
        </p:spPr>
        <p:txBody>
          <a:bodyPr anchor="b"/>
          <a:lstStyle>
            <a:lvl1pPr algn="l">
              <a:defRPr sz="6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699" y="7166072"/>
            <a:ext cx="15197142" cy="1290600"/>
          </a:xfrm>
        </p:spPr>
        <p:txBody>
          <a:bodyPr anchor="t">
            <a:normAutofit/>
          </a:bodyPr>
          <a:lstStyle>
            <a:lvl1pPr marL="0" indent="0" algn="l">
              <a:buNone/>
              <a:defRPr sz="3000" cap="all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1463127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3" y="3213101"/>
            <a:ext cx="7493001" cy="54737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732843" y="3213101"/>
            <a:ext cx="7492998" cy="54737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31516633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60505" y="3327401"/>
            <a:ext cx="7063581" cy="864393"/>
          </a:xfrm>
        </p:spPr>
        <p:txBody>
          <a:bodyPr anchor="b">
            <a:noAutofit/>
          </a:bodyPr>
          <a:lstStyle>
            <a:lvl1pPr marL="0" indent="0">
              <a:buNone/>
              <a:defRPr sz="42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2" y="4305302"/>
            <a:ext cx="7495385" cy="4381497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44005" y="3340101"/>
            <a:ext cx="7084220" cy="864393"/>
          </a:xfrm>
        </p:spPr>
        <p:txBody>
          <a:bodyPr anchor="b">
            <a:noAutofit/>
          </a:bodyPr>
          <a:lstStyle>
            <a:lvl1pPr marL="0" indent="0">
              <a:buNone/>
              <a:defRPr sz="4200" b="0"/>
            </a:lvl1pPr>
            <a:lvl2pPr marL="685800" indent="0">
              <a:buNone/>
              <a:defRPr sz="3000" b="1"/>
            </a:lvl2pPr>
            <a:lvl3pPr marL="1371600" indent="0">
              <a:buNone/>
              <a:defRPr sz="2700" b="1"/>
            </a:lvl3pPr>
            <a:lvl4pPr marL="2057400" indent="0">
              <a:buNone/>
              <a:defRPr sz="2400" b="1"/>
            </a:lvl4pPr>
            <a:lvl5pPr marL="2743200" indent="0">
              <a:buNone/>
              <a:defRPr sz="2400" b="1"/>
            </a:lvl5pPr>
            <a:lvl6pPr marL="3429000" indent="0">
              <a:buNone/>
              <a:defRPr sz="2400" b="1"/>
            </a:lvl6pPr>
            <a:lvl7pPr marL="4114800" indent="0">
              <a:buNone/>
              <a:defRPr sz="2400" b="1"/>
            </a:lvl7pPr>
            <a:lvl8pPr marL="4800600" indent="0">
              <a:buNone/>
              <a:defRPr sz="2400" b="1"/>
            </a:lvl8pPr>
            <a:lvl9pPr marL="5486400" indent="0">
              <a:buNone/>
              <a:defRPr sz="2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8735225" y="4305302"/>
            <a:ext cx="7493001" cy="4381497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244515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1950762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10482931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1" y="3111499"/>
            <a:ext cx="5521328" cy="2057400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72302" y="914402"/>
            <a:ext cx="9253539" cy="77724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8701" y="5168900"/>
            <a:ext cx="5521328" cy="2743200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8959722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1" y="2400300"/>
            <a:ext cx="9246980" cy="2057400"/>
          </a:xfrm>
        </p:spPr>
        <p:txBody>
          <a:bodyPr anchor="b">
            <a:normAutofit/>
          </a:bodyPr>
          <a:lstStyle>
            <a:lvl1pPr algn="l">
              <a:defRPr sz="4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304380" y="1371600"/>
            <a:ext cx="4921461" cy="6858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8701" y="4457700"/>
            <a:ext cx="9246980" cy="2743200"/>
          </a:xfrm>
        </p:spPr>
        <p:txBody>
          <a:bodyPr anchor="t">
            <a:normAutofit/>
          </a:bodyPr>
          <a:lstStyle>
            <a:lvl1pPr marL="0" indent="0">
              <a:buNone/>
              <a:defRPr sz="27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3491733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1" y="7099298"/>
            <a:ext cx="15197141" cy="85010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57401" y="1398168"/>
            <a:ext cx="13139741" cy="4747464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  <a:lvl2pPr marL="685800" indent="0">
              <a:buNone/>
              <a:defRPr sz="2400"/>
            </a:lvl2pPr>
            <a:lvl3pPr marL="1371600" indent="0">
              <a:buNone/>
              <a:defRPr sz="2400"/>
            </a:lvl3pPr>
            <a:lvl4pPr marL="2057400" indent="0">
              <a:buNone/>
              <a:defRPr sz="2400"/>
            </a:lvl4pPr>
            <a:lvl5pPr marL="2743200" indent="0">
              <a:buNone/>
              <a:defRPr sz="2400"/>
            </a:lvl5pPr>
            <a:lvl6pPr marL="3429000" indent="0">
              <a:buNone/>
              <a:defRPr sz="2400"/>
            </a:lvl6pPr>
            <a:lvl7pPr marL="4114800" indent="0">
              <a:buNone/>
              <a:defRPr sz="2400"/>
            </a:lvl7pPr>
            <a:lvl8pPr marL="4800600" indent="0">
              <a:buNone/>
              <a:defRPr sz="2400"/>
            </a:lvl8pPr>
            <a:lvl9pPr marL="548640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8701" y="7949405"/>
            <a:ext cx="15197141" cy="740568"/>
          </a:xfrm>
        </p:spPr>
        <p:txBody>
          <a:bodyPr anchor="t">
            <a:normAutofit/>
          </a:bodyPr>
          <a:lstStyle>
            <a:lvl1pPr marL="0" indent="0">
              <a:buNone/>
              <a:defRPr sz="2100"/>
            </a:lvl1pPr>
            <a:lvl2pPr marL="685800" indent="0">
              <a:buNone/>
              <a:defRPr sz="1800"/>
            </a:lvl2pPr>
            <a:lvl3pPr marL="1371600" indent="0">
              <a:buNone/>
              <a:defRPr sz="1500"/>
            </a:lvl3pPr>
            <a:lvl4pPr marL="2057400" indent="0">
              <a:buNone/>
              <a:defRPr sz="1350"/>
            </a:lvl4pPr>
            <a:lvl5pPr marL="2743200" indent="0">
              <a:buNone/>
              <a:defRPr sz="1350"/>
            </a:lvl5pPr>
            <a:lvl6pPr marL="3429000" indent="0">
              <a:buNone/>
              <a:defRPr sz="1350"/>
            </a:lvl6pPr>
            <a:lvl7pPr marL="4114800" indent="0">
              <a:buNone/>
              <a:defRPr sz="1350"/>
            </a:lvl7pPr>
            <a:lvl8pPr marL="4800600" indent="0">
              <a:buNone/>
              <a:defRPr sz="1350"/>
            </a:lvl8pPr>
            <a:lvl9pPr marL="5486400" indent="0">
              <a:buNone/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216605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2" y="914402"/>
            <a:ext cx="15197141" cy="4686299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6515100"/>
            <a:ext cx="15197142" cy="2171700"/>
          </a:xfrm>
        </p:spPr>
        <p:txBody>
          <a:bodyPr anchor="ctr">
            <a:normAutofit/>
          </a:bodyPr>
          <a:lstStyle>
            <a:lvl1pPr marL="0" indent="0" algn="l">
              <a:buNone/>
              <a:defRPr sz="3000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752128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5356801" y="4114800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12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413" y="1235006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12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8401" y="914402"/>
            <a:ext cx="14325599" cy="4114799"/>
          </a:xfrm>
        </p:spPr>
        <p:txBody>
          <a:bodyPr anchor="ctr">
            <a:normAutofit/>
          </a:bodyPr>
          <a:lstStyle>
            <a:lvl1pPr algn="l">
              <a:defRPr sz="48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46813" y="5029200"/>
            <a:ext cx="14008776" cy="5715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685800" indent="0">
              <a:buFontTx/>
              <a:buNone/>
              <a:defRPr/>
            </a:lvl2pPr>
            <a:lvl3pPr marL="1371600" indent="0">
              <a:buFontTx/>
              <a:buNone/>
              <a:defRPr/>
            </a:lvl3pPr>
            <a:lvl4pPr marL="2057400" indent="0">
              <a:buFontTx/>
              <a:buNone/>
              <a:defRPr/>
            </a:lvl4pPr>
            <a:lvl5pPr marL="27432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198" y="6515100"/>
            <a:ext cx="15228551" cy="2171700"/>
          </a:xfrm>
        </p:spPr>
        <p:txBody>
          <a:bodyPr anchor="ctr">
            <a:normAutofit/>
          </a:bodyPr>
          <a:lstStyle>
            <a:lvl1pPr marL="0" indent="0" algn="l">
              <a:buNone/>
              <a:defRPr sz="3000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2915285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4" y="4962872"/>
            <a:ext cx="15197138" cy="2203200"/>
          </a:xfrm>
        </p:spPr>
        <p:txBody>
          <a:bodyPr anchor="b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2" y="7166072"/>
            <a:ext cx="15197139" cy="1290600"/>
          </a:xfrm>
        </p:spPr>
        <p:txBody>
          <a:bodyPr anchor="t">
            <a:normAutofit/>
          </a:bodyPr>
          <a:lstStyle>
            <a:lvl1pPr marL="0" indent="0" algn="l">
              <a:buNone/>
              <a:defRPr sz="3000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7765405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5356801" y="4114800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12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13" y="1235006"/>
            <a:ext cx="914400" cy="877164"/>
          </a:xfrm>
          <a:prstGeom prst="rect">
            <a:avLst/>
          </a:prstGeom>
        </p:spPr>
        <p:txBody>
          <a:bodyPr vert="horz" lIns="137160" tIns="68580" rIns="137160" bIns="6858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12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1488401" y="914402"/>
            <a:ext cx="14325599" cy="4114799"/>
          </a:xfrm>
        </p:spPr>
        <p:txBody>
          <a:bodyPr anchor="ctr">
            <a:normAutofit/>
          </a:bodyPr>
          <a:lstStyle>
            <a:lvl1pPr algn="l">
              <a:defRPr sz="48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8700" y="5829300"/>
            <a:ext cx="15203154" cy="13335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36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699" y="7162800"/>
            <a:ext cx="15203154" cy="1524000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27073114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2" y="914402"/>
            <a:ext cx="15197141" cy="41147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8702" y="5257800"/>
            <a:ext cx="15197142" cy="12573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42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6515100"/>
            <a:ext cx="15197142" cy="2171700"/>
          </a:xfrm>
        </p:spPr>
        <p:txBody>
          <a:bodyPr anchor="t">
            <a:normAutofit/>
          </a:bodyPr>
          <a:lstStyle>
            <a:lvl1pPr marL="0" indent="0" algn="l">
              <a:buNone/>
              <a:defRPr sz="2700">
                <a:solidFill>
                  <a:schemeClr val="tx1"/>
                </a:solidFill>
              </a:defRPr>
            </a:lvl1pPr>
            <a:lvl2pPr marL="68580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2pPr>
            <a:lvl3pPr marL="13716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2057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4pPr>
            <a:lvl5pPr marL="27432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5pPr>
            <a:lvl6pPr marL="34290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6pPr>
            <a:lvl7pPr marL="41148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7pPr>
            <a:lvl8pPr marL="48006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8pPr>
            <a:lvl9pPr marL="5486400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592913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1028702" y="914401"/>
            <a:ext cx="15197138" cy="21844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2186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8283238" cy="10284321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988013" y="914399"/>
            <a:ext cx="3237828" cy="777240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914400"/>
            <a:ext cx="11748174" cy="7772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2270459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2" y="914401"/>
            <a:ext cx="15197138" cy="2184401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2" y="3213101"/>
            <a:ext cx="15197138" cy="5473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84490" y="8805863"/>
            <a:ext cx="2400300" cy="566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D8BD707-D9CF-40AE-B4C6-C98DA3205C09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28701" y="8805863"/>
            <a:ext cx="11741489" cy="566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99091" y="8805863"/>
            <a:ext cx="826751" cy="5667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lang="en-GB" spc="65" smtClean="0"/>
              <a:t>‹#›</a:t>
            </a:fld>
            <a:endParaRPr lang="en-GB" spc="65" dirty="0"/>
          </a:p>
        </p:txBody>
      </p:sp>
    </p:spTree>
    <p:extLst>
      <p:ext uri="{BB962C8B-B14F-4D97-AF65-F5344CB8AC3E}">
        <p14:creationId xmlns:p14="http://schemas.microsoft.com/office/powerpoint/2010/main" val="18671834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  <p:sldLayoutId id="2147483679" r:id="rId13"/>
    <p:sldLayoutId id="2147483680" r:id="rId14"/>
    <p:sldLayoutId id="2147483681" r:id="rId15"/>
    <p:sldLayoutId id="2147483682" r:id="rId16"/>
    <p:sldLayoutId id="2147483683" r:id="rId17"/>
  </p:sldLayoutIdLst>
  <p:txStyles>
    <p:titleStyle>
      <a:lvl1pPr algn="l" defTabSz="685800" rtl="0" eaLnBrk="1" latinLnBrk="0" hangingPunct="1">
        <a:spcBef>
          <a:spcPct val="0"/>
        </a:spcBef>
        <a:buNone/>
        <a:defRPr sz="54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428625" indent="-428625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27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1114425" indent="-428625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800225" indent="-428625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21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2314575" indent="-257175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3000375" indent="-257175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771900" indent="-342900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4457700" indent="-342900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5143500" indent="-342900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5829300" indent="-342900" algn="l" defTabSz="685800" rtl="0" eaLnBrk="1" latinLnBrk="0" hangingPunct="1">
        <a:spcBef>
          <a:spcPts val="0"/>
        </a:spcBef>
        <a:spcAft>
          <a:spcPts val="15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6858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05649" y="7277100"/>
            <a:ext cx="9552875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z="4000" b="1" spc="114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Presenter : </a:t>
            </a:r>
            <a:r>
              <a:rPr sz="4000" b="1" spc="114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R</a:t>
            </a:r>
            <a:r>
              <a:rPr lang="en-GB" sz="4000" b="1" spc="114" dirty="0" err="1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ajesh</a:t>
            </a:r>
            <a:r>
              <a:rPr sz="4000" b="1" spc="6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lang="en-GB" sz="4000" b="1" spc="8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Udayakumar</a:t>
            </a:r>
            <a:endParaRPr sz="4000" dirty="0">
              <a:latin typeface="Garamond" panose="02020404030301010803" pitchFamily="18" charset="0"/>
              <a:cs typeface="Arial Narro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05649" y="3086100"/>
            <a:ext cx="14486751" cy="203927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8300"/>
              </a:lnSpc>
              <a:spcBef>
                <a:spcPts val="100"/>
              </a:spcBef>
            </a:pPr>
            <a:r>
              <a:rPr lang="en-GB" sz="620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/>
                <a:cs typeface="Garamond"/>
              </a:rPr>
              <a:t>TELECOM </a:t>
            </a:r>
            <a:r>
              <a:rPr sz="620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/>
                <a:cs typeface="Garamond"/>
              </a:rPr>
              <a:t>CUSTOMER</a:t>
            </a:r>
            <a:r>
              <a:rPr sz="6200" spc="6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/>
                <a:cs typeface="Garamond"/>
              </a:rPr>
              <a:t> </a:t>
            </a:r>
            <a:r>
              <a:rPr sz="6200" spc="-1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/>
                <a:cs typeface="Garamond"/>
              </a:rPr>
              <a:t>CHURN PREDICTION</a:t>
            </a:r>
            <a:endParaRPr sz="6200" dirty="0">
              <a:solidFill>
                <a:schemeClr val="bg2">
                  <a:lumMod val="20000"/>
                  <a:lumOff val="80000"/>
                </a:schemeClr>
              </a:solidFill>
              <a:latin typeface="Garamond"/>
              <a:cs typeface="Garamon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E8DF9B-141E-3801-4AA5-F05BAC906A07}"/>
              </a:ext>
            </a:extLst>
          </p:cNvPr>
          <p:cNvSpPr txBox="1"/>
          <p:nvPr/>
        </p:nvSpPr>
        <p:spPr>
          <a:xfrm>
            <a:off x="1295400" y="876300"/>
            <a:ext cx="1188720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200" b="1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/>
                <a:ea typeface="+mj-ea"/>
              </a:rPr>
              <a:t>Business Objective</a:t>
            </a:r>
            <a:endParaRPr lang="en-GB" sz="6200" b="1" dirty="0">
              <a:solidFill>
                <a:schemeClr val="bg2">
                  <a:lumMod val="20000"/>
                  <a:lumOff val="80000"/>
                </a:schemeClr>
              </a:solidFill>
              <a:latin typeface="Garamond"/>
              <a:ea typeface="+mj-ea"/>
            </a:endParaRP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63EA2080-C6BC-66A9-1085-1B97B5D3FE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8026" y="3327618"/>
            <a:ext cx="8458200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Garamond" panose="02020404030301010803" pitchFamily="18" charset="0"/>
              </a:rPr>
              <a:t>Retention teams cannot contact everyone</a:t>
            </a: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effectLst/>
              <a:latin typeface="Garamond" panose="02020404030301010803" pitchFamily="18" charset="0"/>
            </a:endParaRPr>
          </a:p>
          <a:p>
            <a:pPr marL="457200" marR="0" lvl="0" indent="-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effectLst/>
                <a:latin typeface="Garamond" panose="02020404030301010803" pitchFamily="18" charset="0"/>
              </a:rPr>
              <a:t>Goal: prioritize customers most likely to churn</a:t>
            </a:r>
          </a:p>
        </p:txBody>
      </p:sp>
    </p:spTree>
    <p:extLst>
      <p:ext uri="{BB962C8B-B14F-4D97-AF65-F5344CB8AC3E}">
        <p14:creationId xmlns:p14="http://schemas.microsoft.com/office/powerpoint/2010/main" val="32642567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38870-CDD5-B5CC-0F20-42F8940A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6894C6-C99E-0D67-0D8C-16656B96EC83}"/>
              </a:ext>
            </a:extLst>
          </p:cNvPr>
          <p:cNvSpPr txBox="1"/>
          <p:nvPr/>
        </p:nvSpPr>
        <p:spPr>
          <a:xfrm>
            <a:off x="1295400" y="876300"/>
            <a:ext cx="1188720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spc="-29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DATA-</a:t>
            </a:r>
            <a:r>
              <a:rPr lang="en-GB" sz="6200" spc="-45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DRIVEN</a:t>
            </a:r>
            <a:r>
              <a:rPr lang="en-GB" sz="6600" spc="-45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 </a:t>
            </a:r>
            <a:r>
              <a:rPr lang="en-GB" sz="6600" spc="-1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APPROACH</a:t>
            </a:r>
            <a:endParaRPr lang="en-GB" sz="6200" b="1" dirty="0">
              <a:solidFill>
                <a:schemeClr val="bg2">
                  <a:lumMod val="20000"/>
                  <a:lumOff val="80000"/>
                </a:schemeClr>
              </a:solidFill>
              <a:latin typeface="Garamond" panose="02020404030301010803" pitchFamily="18" charset="0"/>
              <a:ea typeface="+mj-ea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E7A99A4-1AC1-78EB-CEFE-F71F3D1DB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58600" y="228600"/>
            <a:ext cx="6019800" cy="982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object 3"/>
          <p:cNvSpPr txBox="1"/>
          <p:nvPr/>
        </p:nvSpPr>
        <p:spPr>
          <a:xfrm>
            <a:off x="1676400" y="3009900"/>
            <a:ext cx="7924800" cy="27135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2700" b="1" spc="15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Unified</a:t>
            </a:r>
            <a:r>
              <a:rPr sz="2700" b="1" spc="6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Data</a:t>
            </a:r>
            <a:r>
              <a:rPr sz="2700" b="1" spc="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5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Integration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342900" indent="-342900">
              <a:lnSpc>
                <a:spcPct val="100000"/>
              </a:lnSpc>
              <a:spcBef>
                <a:spcPts val="285"/>
              </a:spcBef>
              <a:buFont typeface="Arial" panose="020B0604020202020204" pitchFamily="34" charset="0"/>
              <a:buChar char="•"/>
            </a:pPr>
            <a:endParaRPr sz="20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2700" b="1" spc="14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Behavioural</a:t>
            </a:r>
            <a:r>
              <a:rPr sz="2700" b="1" spc="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Feature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4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Engineering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342900" indent="-342900">
              <a:lnSpc>
                <a:spcPct val="100000"/>
              </a:lnSpc>
              <a:spcBef>
                <a:spcPts val="290"/>
              </a:spcBef>
              <a:buFont typeface="Arial" panose="020B0604020202020204" pitchFamily="34" charset="0"/>
              <a:buChar char="•"/>
            </a:pPr>
            <a:endParaRPr sz="20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2700" b="1" spc="23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Time-</a:t>
            </a:r>
            <a:r>
              <a:rPr sz="2700" b="1" spc="21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Aware</a:t>
            </a:r>
            <a:r>
              <a:rPr sz="2700" b="1" spc="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Modelling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342900" indent="-342900">
              <a:lnSpc>
                <a:spcPct val="100000"/>
              </a:lnSpc>
              <a:spcBef>
                <a:spcPts val="285"/>
              </a:spcBef>
              <a:buFont typeface="Arial" panose="020B0604020202020204" pitchFamily="34" charset="0"/>
              <a:buChar char="•"/>
            </a:pPr>
            <a:endParaRPr sz="20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2700" b="1" spc="15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Strategic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4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Insights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for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4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Retention</a:t>
            </a:r>
            <a:endParaRPr sz="2700" dirty="0">
              <a:latin typeface="Garamond" panose="02020404030301010803" pitchFamily="18" charset="0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168668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9F94F7B2-AD33-083D-E8CC-61E63F357E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96800F78-DA10-56A3-E1F0-468AB924D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99F96C0-02AD-D2F3-589E-54D0F7CFC272}"/>
              </a:ext>
            </a:extLst>
          </p:cNvPr>
          <p:cNvSpPr/>
          <p:nvPr/>
        </p:nvSpPr>
        <p:spPr>
          <a:xfrm>
            <a:off x="567128" y="1999642"/>
            <a:ext cx="1981200" cy="91439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CUSTOMER DATA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0BAD3B1-DD9A-8F3C-7C9A-4D3B377B3F96}"/>
              </a:ext>
            </a:extLst>
          </p:cNvPr>
          <p:cNvSpPr/>
          <p:nvPr/>
        </p:nvSpPr>
        <p:spPr>
          <a:xfrm>
            <a:off x="533400" y="3923687"/>
            <a:ext cx="1981200" cy="91439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USAGE DATA</a:t>
            </a: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382DC8DA-4A18-BB9E-29A3-434DCCD0B1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8288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GB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903FF4D-A21D-C960-9C01-2FA3CD6CD8EF}"/>
              </a:ext>
            </a:extLst>
          </p:cNvPr>
          <p:cNvSpPr/>
          <p:nvPr/>
        </p:nvSpPr>
        <p:spPr>
          <a:xfrm>
            <a:off x="533400" y="5790895"/>
            <a:ext cx="1981200" cy="91439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CALL CENTER DATA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AA2D37A-0E2B-FD67-F6EF-EC0732192538}"/>
              </a:ext>
            </a:extLst>
          </p:cNvPr>
          <p:cNvSpPr/>
          <p:nvPr/>
        </p:nvSpPr>
        <p:spPr>
          <a:xfrm>
            <a:off x="564630" y="7658103"/>
            <a:ext cx="1981200" cy="91439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CONTRACT  DATA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F3CD544-959B-562C-9AF6-616CACBA90ED}"/>
              </a:ext>
            </a:extLst>
          </p:cNvPr>
          <p:cNvSpPr/>
          <p:nvPr/>
        </p:nvSpPr>
        <p:spPr>
          <a:xfrm>
            <a:off x="3368415" y="1999642"/>
            <a:ext cx="1981200" cy="65728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DATA INTEGRATION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DC7696-779C-5D51-2EFF-A402570674F5}"/>
              </a:ext>
            </a:extLst>
          </p:cNvPr>
          <p:cNvSpPr/>
          <p:nvPr/>
        </p:nvSpPr>
        <p:spPr>
          <a:xfrm>
            <a:off x="6172200" y="4609488"/>
            <a:ext cx="2362200" cy="129539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FEATURE ENGINEERING</a:t>
            </a:r>
            <a:br>
              <a:rPr lang="en-GB" dirty="0"/>
            </a:br>
            <a:r>
              <a:rPr lang="en-GB" dirty="0"/>
              <a:t>(Rolling Feature)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B926F4F-B099-A2BF-6918-582BE3C3717B}"/>
              </a:ext>
            </a:extLst>
          </p:cNvPr>
          <p:cNvSpPr/>
          <p:nvPr/>
        </p:nvSpPr>
        <p:spPr>
          <a:xfrm>
            <a:off x="9372600" y="4609488"/>
            <a:ext cx="2362200" cy="129539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MODEL TABLE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1D85A3D-9385-A836-F956-A3877BA860C1}"/>
              </a:ext>
            </a:extLst>
          </p:cNvPr>
          <p:cNvSpPr/>
          <p:nvPr/>
        </p:nvSpPr>
        <p:spPr>
          <a:xfrm>
            <a:off x="12573000" y="4609486"/>
            <a:ext cx="2362200" cy="129539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MODEL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0CD341F-2DE0-786F-4333-964D28CEC045}"/>
              </a:ext>
            </a:extLst>
          </p:cNvPr>
          <p:cNvSpPr/>
          <p:nvPr/>
        </p:nvSpPr>
        <p:spPr>
          <a:xfrm>
            <a:off x="15697200" y="4609486"/>
            <a:ext cx="2362200" cy="1295399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RISK SCORING PATTERN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28C4698-9534-78EC-ED89-B614CEBBE39D}"/>
              </a:ext>
            </a:extLst>
          </p:cNvPr>
          <p:cNvCxnSpPr>
            <a:stCxn id="8" idx="3"/>
          </p:cNvCxnSpPr>
          <p:nvPr/>
        </p:nvCxnSpPr>
        <p:spPr>
          <a:xfrm>
            <a:off x="2548328" y="2456841"/>
            <a:ext cx="79200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8391701-C50B-17BB-5D5D-52B008705E0D}"/>
              </a:ext>
            </a:extLst>
          </p:cNvPr>
          <p:cNvCxnSpPr/>
          <p:nvPr/>
        </p:nvCxnSpPr>
        <p:spPr>
          <a:xfrm>
            <a:off x="2560800" y="4397173"/>
            <a:ext cx="79200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745618-DC33-9312-A6A0-8632CDEBAB28}"/>
              </a:ext>
            </a:extLst>
          </p:cNvPr>
          <p:cNvCxnSpPr/>
          <p:nvPr/>
        </p:nvCxnSpPr>
        <p:spPr>
          <a:xfrm>
            <a:off x="2560800" y="6254857"/>
            <a:ext cx="79200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2F37EB1-C114-F7D6-0945-04266C16A51F}"/>
              </a:ext>
            </a:extLst>
          </p:cNvPr>
          <p:cNvCxnSpPr/>
          <p:nvPr/>
        </p:nvCxnSpPr>
        <p:spPr>
          <a:xfrm>
            <a:off x="2560800" y="8089492"/>
            <a:ext cx="792000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6E90454-2AA9-50FA-9689-C76BE348F31E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5349615" y="5257188"/>
            <a:ext cx="822585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7A19280-E8F0-146F-4393-7449BF3D621F}"/>
              </a:ext>
            </a:extLst>
          </p:cNvPr>
          <p:cNvCxnSpPr>
            <a:cxnSpLocks/>
          </p:cNvCxnSpPr>
          <p:nvPr/>
        </p:nvCxnSpPr>
        <p:spPr>
          <a:xfrm flipV="1">
            <a:off x="8525434" y="5257186"/>
            <a:ext cx="822585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671ECFC-4FFB-8A61-F4C4-600FC0029609}"/>
              </a:ext>
            </a:extLst>
          </p:cNvPr>
          <p:cNvCxnSpPr>
            <a:cxnSpLocks/>
          </p:cNvCxnSpPr>
          <p:nvPr/>
        </p:nvCxnSpPr>
        <p:spPr>
          <a:xfrm flipV="1">
            <a:off x="11750415" y="5257185"/>
            <a:ext cx="822585" cy="0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4F97521-E67E-14FE-0E98-A35382D2F21D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4935200" y="5257185"/>
            <a:ext cx="762000" cy="1"/>
          </a:xfrm>
          <a:prstGeom prst="straightConnector1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959E199-074D-0A09-C06E-C7BE2E8948B2}"/>
              </a:ext>
            </a:extLst>
          </p:cNvPr>
          <p:cNvSpPr txBox="1"/>
          <p:nvPr/>
        </p:nvSpPr>
        <p:spPr>
          <a:xfrm>
            <a:off x="533400" y="351280"/>
            <a:ext cx="1360857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spc="-29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  <a:ea typeface="+mj-ea"/>
              </a:rPr>
              <a:t>END TO END WORKFLOW</a:t>
            </a:r>
            <a:r>
              <a:rPr lang="en-GB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29731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7960261-1C7A-4B4B-5875-298A18EC47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13" y="2483866"/>
            <a:ext cx="8138160" cy="6781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80F538E-CA18-F04E-6660-A7F04EE27F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5360" y="1950451"/>
            <a:ext cx="9540240" cy="7315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85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C928577-BF10-A136-5AE4-F0AA0378AD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64" y="1104900"/>
            <a:ext cx="17029471" cy="87500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1D97AE-47D8-36B7-6D6B-6164E6167C22}"/>
              </a:ext>
            </a:extLst>
          </p:cNvPr>
          <p:cNvSpPr txBox="1"/>
          <p:nvPr/>
        </p:nvSpPr>
        <p:spPr>
          <a:xfrm>
            <a:off x="381000" y="266700"/>
            <a:ext cx="1021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+mj-lt"/>
              </a:rPr>
              <a:t>Data and Feature engineering pipeline </a:t>
            </a:r>
          </a:p>
        </p:txBody>
      </p:sp>
    </p:spTree>
    <p:extLst>
      <p:ext uri="{BB962C8B-B14F-4D97-AF65-F5344CB8AC3E}">
        <p14:creationId xmlns:p14="http://schemas.microsoft.com/office/powerpoint/2010/main" val="17772106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3371302"/>
            <a:ext cx="7743126" cy="5162061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8681280" y="4115580"/>
            <a:ext cx="6744334" cy="2415405"/>
          </a:xfrm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2400" b="1" spc="150" dirty="0">
                <a:solidFill>
                  <a:srgbClr val="ECE6ED"/>
                </a:solidFill>
                <a:latin typeface="Arial Narrow"/>
                <a:cs typeface="Arial Narrow"/>
              </a:rPr>
              <a:t>Contract</a:t>
            </a:r>
            <a:r>
              <a:rPr sz="2400" b="1" spc="6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45" dirty="0">
                <a:solidFill>
                  <a:srgbClr val="ECE6ED"/>
                </a:solidFill>
                <a:latin typeface="Arial Narrow"/>
                <a:cs typeface="Arial Narrow"/>
              </a:rPr>
              <a:t>Lifecycle</a:t>
            </a:r>
            <a:r>
              <a:rPr sz="2400" b="1" spc="65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25" dirty="0">
                <a:solidFill>
                  <a:srgbClr val="ECE6ED"/>
                </a:solidFill>
                <a:latin typeface="Arial Narrow"/>
                <a:cs typeface="Arial Narrow"/>
              </a:rPr>
              <a:t>Signals</a:t>
            </a:r>
            <a:endParaRPr sz="2400" dirty="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175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sz="2400" b="1" spc="130" dirty="0">
                <a:solidFill>
                  <a:srgbClr val="ECE6ED"/>
                </a:solidFill>
                <a:latin typeface="Arial Narrow"/>
                <a:cs typeface="Arial Narrow"/>
              </a:rPr>
              <a:t>Behavioural</a:t>
            </a:r>
            <a:r>
              <a:rPr sz="2400" b="1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65" dirty="0">
                <a:solidFill>
                  <a:srgbClr val="ECE6ED"/>
                </a:solidFill>
                <a:latin typeface="Arial Narrow"/>
                <a:cs typeface="Arial Narrow"/>
              </a:rPr>
              <a:t>Trend</a:t>
            </a:r>
            <a:r>
              <a:rPr sz="2400" b="1" spc="8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10" dirty="0">
                <a:solidFill>
                  <a:srgbClr val="ECE6ED"/>
                </a:solidFill>
                <a:latin typeface="Arial Narrow"/>
                <a:cs typeface="Arial Narrow"/>
              </a:rPr>
              <a:t>Analysis</a:t>
            </a:r>
            <a:endParaRPr sz="2400" dirty="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330"/>
              </a:spcBef>
            </a:pPr>
            <a:endParaRPr sz="175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</a:pPr>
            <a:r>
              <a:rPr sz="2400" b="1" spc="145" dirty="0">
                <a:solidFill>
                  <a:srgbClr val="ECE6ED"/>
                </a:solidFill>
                <a:latin typeface="Arial Narrow"/>
                <a:cs typeface="Arial Narrow"/>
              </a:rPr>
              <a:t>Service</a:t>
            </a:r>
            <a:r>
              <a:rPr sz="2400" b="1" spc="7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20" dirty="0">
                <a:solidFill>
                  <a:srgbClr val="ECE6ED"/>
                </a:solidFill>
                <a:latin typeface="Arial Narrow"/>
                <a:cs typeface="Arial Narrow"/>
              </a:rPr>
              <a:t>Quality</a:t>
            </a:r>
            <a:r>
              <a:rPr sz="2400" b="1" spc="7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20" dirty="0">
                <a:solidFill>
                  <a:srgbClr val="ECE6ED"/>
                </a:solidFill>
                <a:latin typeface="Arial Narrow"/>
                <a:cs typeface="Arial Narrow"/>
              </a:rPr>
              <a:t>Gaps</a:t>
            </a:r>
            <a:endParaRPr sz="2400" dirty="0">
              <a:latin typeface="Arial Narrow"/>
              <a:cs typeface="Arial Narrow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1750" dirty="0">
              <a:latin typeface="Century Gothic"/>
              <a:cs typeface="Century Gothic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b="1" spc="145" dirty="0">
                <a:solidFill>
                  <a:srgbClr val="ECE6ED"/>
                </a:solidFill>
                <a:latin typeface="Arial Narrow"/>
                <a:cs typeface="Arial Narrow"/>
              </a:rPr>
              <a:t>Predictive</a:t>
            </a:r>
            <a:r>
              <a:rPr sz="2400" b="1" spc="55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80" dirty="0">
                <a:solidFill>
                  <a:srgbClr val="ECE6ED"/>
                </a:solidFill>
                <a:latin typeface="Arial Narrow"/>
                <a:cs typeface="Arial Narrow"/>
              </a:rPr>
              <a:t>Power</a:t>
            </a:r>
            <a:r>
              <a:rPr sz="2400" b="1" spc="6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80" dirty="0">
                <a:solidFill>
                  <a:srgbClr val="ECE6ED"/>
                </a:solidFill>
                <a:latin typeface="Arial Narrow"/>
                <a:cs typeface="Arial Narrow"/>
              </a:rPr>
              <a:t>of</a:t>
            </a:r>
            <a:r>
              <a:rPr sz="2400" b="1" spc="60" dirty="0">
                <a:solidFill>
                  <a:srgbClr val="ECE6ED"/>
                </a:solidFill>
                <a:latin typeface="Arial Narrow"/>
                <a:cs typeface="Arial Narrow"/>
              </a:rPr>
              <a:t> </a:t>
            </a:r>
            <a:r>
              <a:rPr sz="2400" b="1" spc="145" dirty="0">
                <a:solidFill>
                  <a:srgbClr val="ECE6ED"/>
                </a:solidFill>
                <a:latin typeface="Arial Narrow"/>
                <a:cs typeface="Arial Narrow"/>
              </a:rPr>
              <a:t>Features</a:t>
            </a:r>
            <a:endParaRPr sz="2400" dirty="0">
              <a:latin typeface="Arial Narrow"/>
              <a:cs typeface="Arial Narro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509"/>
              </a:spcBef>
            </a:pPr>
            <a:fld id="{81D60167-4931-47E6-BA6A-407CBD079E47}" type="slidenum">
              <a:rPr spc="65" dirty="0"/>
              <a:t>7</a:t>
            </a:fld>
            <a:endParaRPr spc="6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800" y="3009900"/>
            <a:ext cx="7743126" cy="51619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141542" y="4152900"/>
            <a:ext cx="7678420" cy="16055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2700" b="1" spc="15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LightGBM: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2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Fast,</a:t>
            </a:r>
            <a:r>
              <a:rPr sz="2700" b="1" spc="8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Scalable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3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Churn</a:t>
            </a:r>
            <a:r>
              <a:rPr sz="2700" b="1" spc="8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Modelling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>
              <a:lnSpc>
                <a:spcPct val="100000"/>
              </a:lnSpc>
              <a:spcBef>
                <a:spcPts val="285"/>
              </a:spcBef>
              <a:buClr>
                <a:srgbClr val="ECE6ED"/>
              </a:buClr>
              <a:buFont typeface="Garamond"/>
              <a:buChar char="•"/>
            </a:pPr>
            <a:endParaRPr sz="20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buFont typeface="Arial" panose="020B0604020202020204" pitchFamily="34" charset="0"/>
              <a:buChar char="•"/>
            </a:pPr>
            <a:r>
              <a:rPr sz="2700" b="1" spc="19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Time-</a:t>
            </a:r>
            <a:r>
              <a:rPr sz="2700" b="1" spc="22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Based</a:t>
            </a:r>
            <a:r>
              <a:rPr sz="2700" b="1" spc="-1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9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Train/Test</a:t>
            </a:r>
            <a:r>
              <a:rPr sz="2700" b="1" spc="8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3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Split</a:t>
            </a:r>
            <a:r>
              <a:rPr lang="en-GB" sz="2700" b="1" spc="13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(Prevents Data Leakage)</a:t>
            </a:r>
            <a:endParaRPr sz="2700" dirty="0">
              <a:latin typeface="Garamond" panose="02020404030301010803" pitchFamily="18" charset="0"/>
              <a:cs typeface="Arial Narrow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B5076B-CB61-9448-3277-D149C6AAF444}"/>
              </a:ext>
            </a:extLst>
          </p:cNvPr>
          <p:cNvSpPr txBox="1"/>
          <p:nvPr/>
        </p:nvSpPr>
        <p:spPr>
          <a:xfrm>
            <a:off x="533400" y="351280"/>
            <a:ext cx="1360857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MODEL DESIGN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6438B5-D0BB-50EA-0E59-5B88F6876845}"/>
              </a:ext>
            </a:extLst>
          </p:cNvPr>
          <p:cNvSpPr txBox="1"/>
          <p:nvPr/>
        </p:nvSpPr>
        <p:spPr>
          <a:xfrm>
            <a:off x="280218" y="459075"/>
            <a:ext cx="17855382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b="1" spc="-145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  <a:ea typeface="+mj-ea"/>
              </a:rPr>
              <a:t>FEATURE</a:t>
            </a:r>
            <a:r>
              <a:rPr lang="en-GB" sz="6200" b="1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 </a:t>
            </a:r>
            <a:r>
              <a:rPr lang="en-GB" sz="6200" b="1" spc="-145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  <a:ea typeface="+mj-ea"/>
              </a:rPr>
              <a:t>IMPORTANCE &amp; SHAP EXPLAINABILITY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50E99-BB6F-75E3-E8E8-D2F33FF272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426" y="2554574"/>
            <a:ext cx="9448801" cy="70466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B6FBF3-F662-03D8-E45B-1DB0B0A81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1800" y="2592674"/>
            <a:ext cx="7223774" cy="704662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35DE17-7E83-BFAD-7EE9-EE6AE66BD91B}"/>
              </a:ext>
            </a:extLst>
          </p:cNvPr>
          <p:cNvSpPr txBox="1"/>
          <p:nvPr/>
        </p:nvSpPr>
        <p:spPr>
          <a:xfrm>
            <a:off x="16078200" y="8039100"/>
            <a:ext cx="1455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chemeClr val="bg1"/>
                </a:solidFill>
              </a:rPr>
              <a:t>SHAP</a:t>
            </a:r>
            <a:endParaRPr lang="en-GB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0817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5AFFE8F-9932-D367-5762-96FDF562D813}"/>
              </a:ext>
            </a:extLst>
          </p:cNvPr>
          <p:cNvSpPr txBox="1"/>
          <p:nvPr/>
        </p:nvSpPr>
        <p:spPr>
          <a:xfrm>
            <a:off x="762000" y="2365644"/>
            <a:ext cx="6374175" cy="30777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700" b="1" spc="155" dirty="0">
                <a:solidFill>
                  <a:srgbClr val="ECE6ED"/>
                </a:solidFill>
                <a:latin typeface="Garamond" panose="02020404030301010803" pitchFamily="18" charset="0"/>
              </a:rPr>
              <a:t>Model Accuracy: ~92%</a:t>
            </a: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GB" sz="2700" b="1" spc="155" dirty="0">
              <a:solidFill>
                <a:srgbClr val="ECE6ED"/>
              </a:solidFill>
              <a:latin typeface="Garamond" panose="02020404030301010803" pitchFamily="18" charset="0"/>
            </a:endParaRP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700" b="1" spc="155" dirty="0">
                <a:solidFill>
                  <a:srgbClr val="ECE6ED"/>
                </a:solidFill>
                <a:latin typeface="Garamond" panose="02020404030301010803" pitchFamily="18" charset="0"/>
              </a:rPr>
              <a:t>ROC-AUC: 0.97</a:t>
            </a: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GB" sz="2700" b="1" spc="155" dirty="0">
              <a:solidFill>
                <a:srgbClr val="ECE6ED"/>
              </a:solidFill>
              <a:latin typeface="Garamond" panose="02020404030301010803" pitchFamily="18" charset="0"/>
            </a:endParaRP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700" b="1" spc="155" dirty="0">
                <a:solidFill>
                  <a:srgbClr val="ECE6ED"/>
                </a:solidFill>
                <a:latin typeface="Garamond" panose="02020404030301010803" pitchFamily="18" charset="0"/>
              </a:rPr>
              <a:t>Recall @ Top 20% = 30.9%</a:t>
            </a: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GB" sz="2700" b="1" spc="155" dirty="0">
              <a:solidFill>
                <a:srgbClr val="ECE6ED"/>
              </a:solidFill>
              <a:latin typeface="Garamond" panose="02020404030301010803" pitchFamily="18" charset="0"/>
            </a:endParaRPr>
          </a:p>
          <a:p>
            <a:pPr marL="469900" indent="-457200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GB" sz="2700" b="1" spc="155" dirty="0">
                <a:solidFill>
                  <a:srgbClr val="ECE6ED"/>
                </a:solidFill>
                <a:latin typeface="Garamond" panose="02020404030301010803" pitchFamily="18" charset="0"/>
              </a:rPr>
              <a:t>Lift = 1.54x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214A4A-64BA-960D-70A1-82C1B6FC19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84375" y="190500"/>
            <a:ext cx="6248400" cy="51452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FFB9174-0551-718E-CE39-AFECD93FE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5335739"/>
            <a:ext cx="6374175" cy="47607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1D0237-BAA6-5E17-3384-2F5BAF5F7B5A}"/>
              </a:ext>
            </a:extLst>
          </p:cNvPr>
          <p:cNvSpPr txBox="1"/>
          <p:nvPr/>
        </p:nvSpPr>
        <p:spPr>
          <a:xfrm>
            <a:off x="533400" y="351280"/>
            <a:ext cx="1360857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EVALUATION METRICS</a:t>
            </a:r>
          </a:p>
        </p:txBody>
      </p:sp>
    </p:spTree>
    <p:extLst>
      <p:ext uri="{BB962C8B-B14F-4D97-AF65-F5344CB8AC3E}">
        <p14:creationId xmlns:p14="http://schemas.microsoft.com/office/powerpoint/2010/main" val="228705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77400" y="2400300"/>
            <a:ext cx="7743126" cy="516206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1066800" y="3162300"/>
            <a:ext cx="8331834" cy="2621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900" indent="-457200">
              <a:lnSpc>
                <a:spcPct val="100000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sz="2700" b="1" spc="1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Short-</a:t>
            </a:r>
            <a:r>
              <a:rPr sz="2700" b="1" spc="29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Term</a:t>
            </a:r>
            <a:r>
              <a:rPr sz="2700" b="1" spc="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3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Churn</a:t>
            </a:r>
            <a:r>
              <a:rPr sz="2700" b="1" spc="7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5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Forecasting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457200" indent="-457200">
              <a:lnSpc>
                <a:spcPct val="100000"/>
              </a:lnSpc>
              <a:spcBef>
                <a:spcPts val="285"/>
              </a:spcBef>
              <a:buFont typeface="Arial" panose="020B0604020202020204" pitchFamily="34" charset="0"/>
              <a:buChar char="•"/>
            </a:pPr>
            <a:endParaRPr sz="27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GB" sz="2700" b="1" spc="19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RAG Integration 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457200" indent="-457200">
              <a:lnSpc>
                <a:spcPct val="100000"/>
              </a:lnSpc>
              <a:spcBef>
                <a:spcPts val="290"/>
              </a:spcBef>
              <a:buFont typeface="Arial" panose="020B0604020202020204" pitchFamily="34" charset="0"/>
              <a:buChar char="•"/>
            </a:pPr>
            <a:endParaRPr sz="2700" dirty="0">
              <a:latin typeface="Garamond" panose="02020404030301010803" pitchFamily="18" charset="0"/>
              <a:cs typeface="Century Gothic"/>
            </a:endParaRPr>
          </a:p>
          <a:p>
            <a:pPr marL="469900" indent="-4572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2700" b="1" spc="25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CRM</a:t>
            </a:r>
            <a:r>
              <a:rPr sz="2700" b="1" spc="6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8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Workflow</a:t>
            </a:r>
            <a:r>
              <a:rPr sz="2700" b="1" spc="65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 </a:t>
            </a:r>
            <a:r>
              <a:rPr sz="2700" b="1" spc="170" dirty="0">
                <a:solidFill>
                  <a:srgbClr val="ECE6ED"/>
                </a:solidFill>
                <a:latin typeface="Garamond" panose="02020404030301010803" pitchFamily="18" charset="0"/>
                <a:cs typeface="Arial Narrow"/>
              </a:rPr>
              <a:t>Alignment</a:t>
            </a:r>
            <a:endParaRPr sz="2700" dirty="0">
              <a:latin typeface="Garamond" panose="02020404030301010803" pitchFamily="18" charset="0"/>
              <a:cs typeface="Arial Narrow"/>
            </a:endParaRPr>
          </a:p>
          <a:p>
            <a:pPr marL="457200" indent="-457200">
              <a:lnSpc>
                <a:spcPct val="100000"/>
              </a:lnSpc>
              <a:spcBef>
                <a:spcPts val="285"/>
              </a:spcBef>
              <a:buFont typeface="Arial" panose="020B0604020202020204" pitchFamily="34" charset="0"/>
              <a:buChar char="•"/>
            </a:pPr>
            <a:endParaRPr sz="2700" dirty="0">
              <a:latin typeface="Garamond" panose="02020404030301010803" pitchFamily="18" charset="0"/>
              <a:cs typeface="Century Goth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67FC6E-BFA0-1E45-14A3-04AE365BEDA8}"/>
              </a:ext>
            </a:extLst>
          </p:cNvPr>
          <p:cNvSpPr txBox="1"/>
          <p:nvPr/>
        </p:nvSpPr>
        <p:spPr>
          <a:xfrm>
            <a:off x="533400" y="351280"/>
            <a:ext cx="1360857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200" dirty="0">
                <a:solidFill>
                  <a:schemeClr val="bg2">
                    <a:lumMod val="20000"/>
                    <a:lumOff val="80000"/>
                  </a:schemeClr>
                </a:solidFill>
                <a:latin typeface="Garamond" panose="02020404030301010803" pitchFamily="18" charset="0"/>
              </a:rPr>
              <a:t>STRATEGIC NEXT STEPS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0</TotalTime>
  <Words>144</Words>
  <Application>Microsoft Office PowerPoint</Application>
  <PresentationFormat>Custom</PresentationFormat>
  <Paragraphs>54</Paragraphs>
  <Slides>11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Arial Narrow</vt:lpstr>
      <vt:lpstr>Calibri</vt:lpstr>
      <vt:lpstr>Calibri Light</vt:lpstr>
      <vt:lpstr>Century Gothic</vt:lpstr>
      <vt:lpstr>Garamond</vt:lpstr>
      <vt:lpstr>Celestial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Rajesh Udayakumar</dc:creator>
  <cp:lastModifiedBy>Rajesh Udayakumar</cp:lastModifiedBy>
  <cp:revision>13</cp:revision>
  <dcterms:created xsi:type="dcterms:W3CDTF">2026-02-17T11:36:05Z</dcterms:created>
  <dcterms:modified xsi:type="dcterms:W3CDTF">2026-02-19T11:43:33Z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2026-02-17T00:00:00Z</vt:filetime>
  </property>
  <property fmtid="{D5CDD505-2E9C-101B-9397-08002B2CF9AE}" pid="3" name="CreationClient">
    <vt:lpwstr>outline-to-presentation</vt:lpwstr>
  </property>
  <property fmtid="{D5CDD505-2E9C-101B-9397-08002B2CF9AE}" pid="4" name="Creator">
    <vt:lpwstr>Adobe Express</vt:lpwstr>
  </property>
  <property fmtid="{D5CDD505-2E9C-101B-9397-08002B2CF9AE}" pid="5" name="LastSaved">
    <vt:filetime>2026-02-17T00:00:00Z</vt:filetime>
  </property>
  <property fmtid="{D5CDD505-2E9C-101B-9397-08002B2CF9AE}" pid="6" name="Producer">
    <vt:lpwstr>Adobe Express</vt:lpwstr>
  </property>
</Properties>
</file>